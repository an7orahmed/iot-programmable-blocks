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our Q2 status update for the IoT Programmable Blocks project. We're here to share our progress on revolutionizing how users interact with IoT systems, moving beyond complex, low-level programming. Our core message today is about creating a modular, AI-augmented platform that makes real-world automation accessible to everyone. We'll dive into the technical advancements and the integration of agentic AI that makes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on the agenda for today? We'll start by framing the problem we're solving, then move through the technical stack from our custom hardware to the AI integration. This includes a deep dive into our system architecture, the milestones we've hit in hardware and firmware, and how our AI chatbot is bringing natural language to automation. We'll wrap up with our experimental results and a look at what's next. This journey will show you how we're making IoT programming intuitive and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agenda, let's start with the fundamental problem we're tackling: the inaccessibility of IoT programming. Today's IoT landscape is plagued by vendor lock-in, forcing users into proprietary ecosystems, and overwhelming complexity, demanding unique SDKs for every device. This creates a huge semantic gap where even simple logic requires excessive code. Our research question asks if we can abstract physical blocks as software objects and synthesize scripts from natural language, truly bridging this gap. We believe this approach will unlock a new era of intuitive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that problem, we've designed a robust, three-tier modular architecture. This structure separates concerns, making the system scalable and maintainable. The physical tier comprises our custom ESP8266-based hardware blocks, each with its own local RESTful API. Above that, the control tier, powered by Python, orchestrates device management and executes logic. Finally, the presentation tier, a React-based web portal, provides the user interface and integrates our AI chatbot. This tiered approach, combined with dual-mode WiFi and mDNS discovery, ensures seamless connectivity and a smooth user experience. Now, let's look closer at the physical tier and how we've abstracted our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our overall architecture, a core innovation lies in our modular block abstraction at the hardware level. We've established a uniform interface for heterogeneous hardware, meaning every block, whether it's an LED, a button, or a temperature sensor, exposes an identical API surface. This is a game-changer because it allows our software layers to interact with any hardware block polymorphically, greatly simplifying integration. We're abstracting away the complexity of physical GPIO pins behind high-level REST endpoints, making each block a self-contained, intelligent module. This uniformity is key to our platform's flexibility and ease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firmware is all about robust networking and local intelligence. We've engineered it for reliability and ease of use. The dual-mode WiFi lets devices connect to the internet while also acting as a local access point. This means you can easily configure them from your phone or laptop. We also have a clever sync protocol that keeps the cloud and local states perfectly aligned. This ensures minimal latency and a smooth user experience. Next, we'll see how this robust firmware enables our Python control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control layer is where the magic happens. We've elevated physical blocks into first-class Python objects. This makes automation scripts incredibly readable and intuitive. Our system also intelligently deduplicates network calls, avoiding redundant communication with the hardware. We've optimized device discovery too, scanning 255 hosts in under three seconds. This ensures a responsive experience, even with many devices on the network. Now, let's explore how AI integrates with this powerful control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 integration is a true game-changer. We're using DeepSeek-V3 to translate natural language into executable Python scripts. This means users can simply describe what they want to happen, and the AI generates the code. It's not just about code generation; the AI also synchronizes with our visual flow diagrams. Plus, it can directly interact with the hardware in real-time. We've also built in robust safety measures, including sandboxed execution and schema-validated outputs. This ensures secure and reliable operation. This powerful AI then feeds into our user-friendly web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portal is your command center for the entire system. It provides real-time monitoring of all your discovered hardware blocks. You get a live view of their status and health. The portal features a visual flow builder, allowing you to see and manipulate your automation logic. Changes you make in the visual graph instantly update the underlying Python script, and vice versa. And with the integrated chatbot, you can rapidly prototype new automations using our DeepSeek agent. This responsive design works great on both desktop and mobile. Now, let's look at the performance benchmarks for all these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we've achieved. Our experimental results confirm the platform's efficiency and the AI's accuracy. We've seen very fast response times for local interactions. Our AI agent correctly generates complex scripts almost every time. And the visual flow diagram always stays perfectly in sync with the code. This means we're delivering a highly responsive and reliable system. These strong results set us up well for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our results are strong, we also have a clear understanding of our current limitations and a solid plan to address them. Our initial hardware has some constraints, and our current synchronization method can introduce latency. We're moving to ESP32 boards for more power and better security. We'll also switch to WebSockets for near-instant state updates. And we're exploring advanced AI features like multi-agent collaboration and formal verification to ensure safety. This roadmap will push the boundaries of what our platform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we've made significant progress this quarter. We've built a truly modular and hardware-agnostic IoT platform. Our Python control layer makes automation intuitive and powerful. And our agentic AI integration allows users to create complex automations with natural language. We've also created a visual programming environment that keeps everything in sync. Thank you for your time and attention. I'm happy to answer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Shape 2"/>
          <p:cNvSpPr/>
          <p:nvPr/>
        </p:nvSpPr>
        <p:spPr>
          <a:xfrm>
            <a:off x="428625" y="714375"/>
            <a:ext cx="2619022" cy="303609"/>
          </a:xfrm>
          <a:prstGeom prst="rect">
            <a:avLst/>
          </a:prstGeom>
          <a:solidFill>
            <a:srgbClr val="4A148C"/>
          </a:solidFill>
          <a:ln/>
        </p:spPr>
      </p:sp>
      <p:sp>
        <p:nvSpPr>
          <p:cNvPr id="7" name="Text 3"/>
          <p:cNvSpPr/>
          <p:nvPr/>
        </p:nvSpPr>
        <p:spPr>
          <a:xfrm>
            <a:off x="428625" y="714375"/>
            <a:ext cx="2619022" cy="303609"/>
          </a:xfrm>
          <a:prstGeom prst="rect">
            <a:avLst/>
          </a:prstGeom>
          <a:noFill/>
          <a:ln/>
        </p:spPr>
        <p:txBody>
          <a:bodyPr wrap="square" lIns="170053" tIns="85090" rIns="170053" bIns="85090" rtlCol="0" anchor="t">
            <a:spAutoFit/>
          </a:bodyPr>
          <a:lstStyle/>
          <a:p>
            <a:pPr algn="l" indent="0" marL="0">
              <a:buNone/>
            </a:pPr>
            <a:r>
              <a:rPr lang="en-US" sz="950" dirty="0">
                <a:solidFill>
                  <a:srgbClr val="FFFFFF"/>
                </a:solidFill>
                <a:latin typeface="Source Sans Pro" pitchFamily="34" charset="0"/>
                <a:ea typeface="Source Sans Pro" pitchFamily="34" charset="-122"/>
                <a:cs typeface="Source Sans Pro" pitchFamily="34" charset="-120"/>
              </a:rPr>
              <a:t>Q2 STATUS UPDATE</a:t>
            </a:r>
            <a:endParaRPr lang="en-US" sz="950" dirty="0"/>
          </a:p>
        </p:txBody>
      </p:sp>
      <p:sp>
        <p:nvSpPr>
          <p:cNvPr id="8" name="Text 4"/>
          <p:cNvSpPr/>
          <p:nvPr/>
        </p:nvSpPr>
        <p:spPr>
          <a:xfrm>
            <a:off x="428625" y="1160859"/>
            <a:ext cx="2619022" cy="1508727"/>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263238"/>
                </a:solidFill>
                <a:latin typeface="Playfair Display SemiBold" pitchFamily="34" charset="0"/>
                <a:ea typeface="Playfair Display SemiBold" pitchFamily="34" charset="-122"/>
                <a:cs typeface="Playfair Display SemiBold" pitchFamily="34" charset="-120"/>
              </a:rPr>
              <a:t>IoT</a:t>
            </a:r>
            <a:r>
              <a:rPr lang="en-US" sz="3300" b="1" dirty="0">
                <a:solidFill>
                  <a:srgbClr val="263238"/>
                </a:solidFill>
                <a:latin typeface="Playfair Display SemiBold" pitchFamily="34" charset="0"/>
                <a:ea typeface="Playfair Display SemiBold" pitchFamily="34" charset="-122"/>
                <a:cs typeface="Playfair Display SemiBold" pitchFamily="34" charset="-120"/>
              </a:rPr>
              <a:t>
</a:t>
            </a:r>
            <a:r>
              <a:rPr lang="en-US" sz="3300" b="1" dirty="0">
                <a:solidFill>
                  <a:srgbClr val="263238"/>
                </a:solidFill>
                <a:latin typeface="Playfair Display SemiBold" pitchFamily="34" charset="0"/>
                <a:ea typeface="Playfair Display SemiBold" pitchFamily="34" charset="-122"/>
                <a:cs typeface="Playfair Display SemiBold" pitchFamily="34" charset="-120"/>
              </a:rPr>
              <a:t>Programmable</a:t>
            </a:r>
            <a:r>
              <a:rPr lang="en-US" sz="3300" b="1" dirty="0">
                <a:solidFill>
                  <a:srgbClr val="263238"/>
                </a:solidFill>
                <a:latin typeface="Playfair Display SemiBold" pitchFamily="34" charset="0"/>
                <a:ea typeface="Playfair Display SemiBold" pitchFamily="34" charset="-122"/>
                <a:cs typeface="Playfair Display SemiBold" pitchFamily="34" charset="-120"/>
              </a:rPr>
              <a:t>
</a:t>
            </a:r>
            <a:r>
              <a:rPr lang="en-US" sz="3300" b="1" dirty="0">
                <a:solidFill>
                  <a:srgbClr val="263238"/>
                </a:solidFill>
                <a:latin typeface="Playfair Display SemiBold" pitchFamily="34" charset="0"/>
                <a:ea typeface="Playfair Display SemiBold" pitchFamily="34" charset="-122"/>
                <a:cs typeface="Playfair Display SemiBold" pitchFamily="34" charset="-120"/>
              </a:rPr>
              <a:t>Blocks</a:t>
            </a:r>
            <a:endParaRPr lang="en-US" sz="3300" dirty="0"/>
          </a:p>
        </p:txBody>
      </p:sp>
      <p:sp>
        <p:nvSpPr>
          <p:cNvPr id="9" name="Text 5"/>
          <p:cNvSpPr/>
          <p:nvPr/>
        </p:nvSpPr>
        <p:spPr>
          <a:xfrm>
            <a:off x="3619147" y="714375"/>
            <a:ext cx="5095224" cy="640035"/>
          </a:xfrm>
          <a:prstGeom prst="rect">
            <a:avLst/>
          </a:prstGeom>
          <a:noFill/>
          <a:ln/>
        </p:spPr>
        <p:txBody>
          <a:bodyPr wrap="square" lIns="0" tIns="0" rIns="0" bIns="0" rtlCol="0" anchor="t">
            <a:spAutoFit/>
          </a:bodyPr>
          <a:lstStyle/>
          <a:p>
            <a:pPr algn="l" indent="0" marL="0">
              <a:lnSpc>
                <a:spcPct val="112000"/>
              </a:lnSpc>
              <a:buNone/>
            </a:pPr>
            <a:r>
              <a:rPr lang="en-US" sz="1700" dirty="0">
                <a:solidFill>
                  <a:srgbClr val="455A64"/>
                </a:solidFill>
                <a:latin typeface="Source Sans Pro" pitchFamily="34" charset="0"/>
                <a:ea typeface="Source Sans Pro" pitchFamily="34" charset="-122"/>
                <a:cs typeface="Source Sans Pro" pitchFamily="34" charset="-120"/>
              </a:rPr>
              <a:t>A Modular, Semantically-Composable IoT Automation Platform with Agentic AI Code Generation</a:t>
            </a:r>
            <a:endParaRPr lang="en-US" sz="1700" dirty="0"/>
          </a:p>
        </p:txBody>
      </p:sp>
      <p:sp>
        <p:nvSpPr>
          <p:cNvPr id="10" name="Text 6"/>
          <p:cNvSpPr/>
          <p:nvPr/>
        </p:nvSpPr>
        <p:spPr>
          <a:xfrm>
            <a:off x="3769165" y="2068785"/>
            <a:ext cx="1993106" cy="214313"/>
          </a:xfrm>
          <a:prstGeom prst="rect">
            <a:avLst/>
          </a:prstGeom>
          <a:noFill/>
          <a:ln/>
        </p:spPr>
        <p:txBody>
          <a:bodyPr wrap="square" lIns="0" tIns="0" rIns="0" bIns="0" rtlCol="0" anchor="t">
            <a:spAutoFit/>
          </a:bodyPr>
          <a:lstStyle/>
          <a:p>
            <a:pPr algn="l" indent="0" marL="0">
              <a:buNone/>
            </a:pPr>
            <a:r>
              <a:rPr lang="en-US" sz="1200" b="1" dirty="0">
                <a:solidFill>
                  <a:srgbClr val="455A64"/>
                </a:solidFill>
                <a:latin typeface="Source Sans Pro" pitchFamily="34" charset="0"/>
                <a:ea typeface="Source Sans Pro" pitchFamily="34" charset="-122"/>
                <a:cs typeface="Source Sans Pro" pitchFamily="34" charset="-120"/>
              </a:rPr>
              <a:t>Project Team:</a:t>
            </a:r>
            <a:r>
              <a:rPr lang="en-US" sz="1250" dirty="0">
                <a:solidFill>
                  <a:srgbClr val="455A64"/>
                </a:solidFill>
                <a:latin typeface="Source Sans Pro" pitchFamily="34" charset="0"/>
                <a:ea typeface="Source Sans Pro" pitchFamily="34" charset="-122"/>
                <a:cs typeface="Source Sans Pro" pitchFamily="34" charset="-120"/>
              </a:rPr>
              <a:t> G-30-CSE-19B</a:t>
            </a:r>
            <a:endParaRPr lang="en-US" sz="1200" dirty="0"/>
          </a:p>
        </p:txBody>
      </p:sp>
      <p:sp>
        <p:nvSpPr>
          <p:cNvPr id="11" name="Text 7"/>
          <p:cNvSpPr/>
          <p:nvPr/>
        </p:nvSpPr>
        <p:spPr>
          <a:xfrm>
            <a:off x="3769165" y="2390254"/>
            <a:ext cx="3300413" cy="214313"/>
          </a:xfrm>
          <a:prstGeom prst="rect">
            <a:avLst/>
          </a:prstGeom>
          <a:noFill/>
          <a:ln/>
        </p:spPr>
        <p:txBody>
          <a:bodyPr wrap="square" lIns="0" tIns="0" rIns="0" bIns="0" rtlCol="0" anchor="t">
            <a:spAutoFit/>
          </a:bodyPr>
          <a:lstStyle/>
          <a:p>
            <a:pPr algn="l" indent="0" marL="0">
              <a:buNone/>
            </a:pPr>
            <a:r>
              <a:rPr lang="en-US" sz="1200" b="1" dirty="0">
                <a:solidFill>
                  <a:srgbClr val="455A64"/>
                </a:solidFill>
                <a:latin typeface="Source Sans Pro" pitchFamily="34" charset="0"/>
                <a:ea typeface="Source Sans Pro" pitchFamily="34" charset="-122"/>
                <a:cs typeface="Source Sans Pro" pitchFamily="34" charset="-120"/>
              </a:rPr>
              <a:t>Department:</a:t>
            </a:r>
            <a:r>
              <a:rPr lang="en-US" sz="1250" dirty="0">
                <a:solidFill>
                  <a:srgbClr val="455A64"/>
                </a:solidFill>
                <a:latin typeface="Source Sans Pro" pitchFamily="34" charset="0"/>
                <a:ea typeface="Source Sans Pro" pitchFamily="34" charset="-122"/>
                <a:cs typeface="Source Sans Pro" pitchFamily="34" charset="-120"/>
              </a:rPr>
              <a:t> Computer Science &amp; Engineering</a:t>
            </a:r>
            <a:endParaRPr lang="en-US" sz="1200" dirty="0"/>
          </a:p>
        </p:txBody>
      </p:sp>
      <p:sp>
        <p:nvSpPr>
          <p:cNvPr id="12" name="Text 8"/>
          <p:cNvSpPr/>
          <p:nvPr/>
        </p:nvSpPr>
        <p:spPr>
          <a:xfrm>
            <a:off x="3769165" y="2711723"/>
            <a:ext cx="1078706" cy="214313"/>
          </a:xfrm>
          <a:prstGeom prst="rect">
            <a:avLst/>
          </a:prstGeom>
          <a:noFill/>
          <a:ln/>
        </p:spPr>
        <p:txBody>
          <a:bodyPr wrap="none" lIns="0" tIns="0" rIns="0" bIns="0" rtlCol="0" anchor="t">
            <a:spAutoFit/>
          </a:bodyPr>
          <a:lstStyle/>
          <a:p>
            <a:pPr algn="l" indent="0" marL="0">
              <a:buNone/>
            </a:pPr>
            <a:r>
              <a:rPr lang="en-US" sz="1200" b="1" dirty="0">
                <a:solidFill>
                  <a:srgbClr val="455A64"/>
                </a:solidFill>
                <a:latin typeface="Source Sans Pro" pitchFamily="34" charset="0"/>
                <a:ea typeface="Source Sans Pro" pitchFamily="34" charset="-122"/>
                <a:cs typeface="Source Sans Pro" pitchFamily="34" charset="-120"/>
              </a:rPr>
              <a:t>Date:</a:t>
            </a:r>
            <a:r>
              <a:rPr lang="en-US" sz="1250" dirty="0">
                <a:solidFill>
                  <a:srgbClr val="455A64"/>
                </a:solidFill>
                <a:latin typeface="Source Sans Pro" pitchFamily="34" charset="0"/>
                <a:ea typeface="Source Sans Pro" pitchFamily="34" charset="-122"/>
                <a:cs typeface="Source Sans Pro" pitchFamily="34" charset="-120"/>
              </a:rPr>
              <a:t>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714375"/>
            <a:ext cx="2619022" cy="532209"/>
          </a:xfrm>
          <a:prstGeom prst="rect">
            <a:avLst/>
          </a:prstGeom>
          <a:noFill/>
          <a:ln/>
        </p:spPr>
        <p:txBody>
          <a:bodyPr wrap="square" lIns="0" tIns="0" rIns="0" bIns="0" rtlCol="0" anchor="t">
            <a:spAutoFit/>
          </a:bodyPr>
          <a:lstStyle/>
          <a:p>
            <a:pPr algn="l" indent="0" marL="0">
              <a:buNone/>
            </a:pPr>
            <a:r>
              <a:rPr lang="en-US" sz="2850" b="1" dirty="0">
                <a:solidFill>
                  <a:srgbClr val="263238"/>
                </a:solidFill>
                <a:latin typeface="Playfair Display SemiBold" pitchFamily="34" charset="0"/>
                <a:ea typeface="Playfair Display SemiBold" pitchFamily="34" charset="-122"/>
                <a:cs typeface="Playfair Display SemiBold" pitchFamily="34" charset="-120"/>
              </a:rPr>
              <a:t>Agenda</a:t>
            </a:r>
            <a:endParaRPr lang="en-US" sz="2850" dirty="0"/>
          </a:p>
        </p:txBody>
      </p:sp>
      <p:sp>
        <p:nvSpPr>
          <p:cNvPr id="7" name="Text 3"/>
          <p:cNvSpPr/>
          <p:nvPr/>
        </p:nvSpPr>
        <p:spPr>
          <a:xfrm>
            <a:off x="3804884" y="714375"/>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01</a:t>
            </a:r>
            <a:endParaRPr lang="en-US" sz="1400" dirty="0"/>
          </a:p>
        </p:txBody>
      </p:sp>
      <p:sp>
        <p:nvSpPr>
          <p:cNvPr id="8" name="Text 4"/>
          <p:cNvSpPr/>
          <p:nvPr/>
        </p:nvSpPr>
        <p:spPr>
          <a:xfrm>
            <a:off x="4126353" y="714375"/>
            <a:ext cx="2771775"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Introduction &amp; Problem Statement</a:t>
            </a:r>
            <a:endParaRPr lang="en-US" sz="1500" dirty="0"/>
          </a:p>
        </p:txBody>
      </p:sp>
      <p:sp>
        <p:nvSpPr>
          <p:cNvPr id="9" name="Text 5"/>
          <p:cNvSpPr/>
          <p:nvPr/>
        </p:nvSpPr>
        <p:spPr>
          <a:xfrm>
            <a:off x="3804884" y="1178719"/>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02</a:t>
            </a:r>
            <a:endParaRPr lang="en-US" sz="1400" dirty="0"/>
          </a:p>
        </p:txBody>
      </p:sp>
      <p:sp>
        <p:nvSpPr>
          <p:cNvPr id="10" name="Text 6"/>
          <p:cNvSpPr/>
          <p:nvPr/>
        </p:nvSpPr>
        <p:spPr>
          <a:xfrm>
            <a:off x="4126353" y="1178719"/>
            <a:ext cx="2393156"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System Architecture Overview</a:t>
            </a:r>
            <a:endParaRPr lang="en-US" sz="1500" dirty="0"/>
          </a:p>
        </p:txBody>
      </p:sp>
      <p:sp>
        <p:nvSpPr>
          <p:cNvPr id="11" name="Text 7"/>
          <p:cNvSpPr/>
          <p:nvPr/>
        </p:nvSpPr>
        <p:spPr>
          <a:xfrm>
            <a:off x="3804884" y="1643063"/>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03</a:t>
            </a:r>
            <a:endParaRPr lang="en-US" sz="1400" dirty="0"/>
          </a:p>
        </p:txBody>
      </p:sp>
      <p:sp>
        <p:nvSpPr>
          <p:cNvPr id="12" name="Text 8"/>
          <p:cNvSpPr/>
          <p:nvPr/>
        </p:nvSpPr>
        <p:spPr>
          <a:xfrm>
            <a:off x="4126353" y="1643063"/>
            <a:ext cx="2614613"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Hardware &amp; Firmware Milestones</a:t>
            </a:r>
            <a:endParaRPr lang="en-US" sz="1500" dirty="0"/>
          </a:p>
        </p:txBody>
      </p:sp>
      <p:sp>
        <p:nvSpPr>
          <p:cNvPr id="13" name="Text 9"/>
          <p:cNvSpPr/>
          <p:nvPr/>
        </p:nvSpPr>
        <p:spPr>
          <a:xfrm>
            <a:off x="3804884" y="2107406"/>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04</a:t>
            </a:r>
            <a:endParaRPr lang="en-US" sz="1400" dirty="0"/>
          </a:p>
        </p:txBody>
      </p:sp>
      <p:sp>
        <p:nvSpPr>
          <p:cNvPr id="14" name="Text 10"/>
          <p:cNvSpPr/>
          <p:nvPr/>
        </p:nvSpPr>
        <p:spPr>
          <a:xfrm>
            <a:off x="4126353" y="2107406"/>
            <a:ext cx="2568178"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Communication &amp; Control Layer</a:t>
            </a:r>
            <a:endParaRPr lang="en-US" sz="1500" dirty="0"/>
          </a:p>
        </p:txBody>
      </p:sp>
      <p:sp>
        <p:nvSpPr>
          <p:cNvPr id="15" name="Text 11"/>
          <p:cNvSpPr/>
          <p:nvPr/>
        </p:nvSpPr>
        <p:spPr>
          <a:xfrm>
            <a:off x="3804884" y="2571750"/>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05</a:t>
            </a:r>
            <a:endParaRPr lang="en-US" sz="1400" dirty="0"/>
          </a:p>
        </p:txBody>
      </p:sp>
      <p:sp>
        <p:nvSpPr>
          <p:cNvPr id="16" name="Text 12"/>
          <p:cNvSpPr/>
          <p:nvPr/>
        </p:nvSpPr>
        <p:spPr>
          <a:xfrm>
            <a:off x="4126353" y="2571750"/>
            <a:ext cx="3293269"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AI Integration: DeepSeek Agentic Chatbot</a:t>
            </a:r>
            <a:endParaRPr lang="en-US" sz="1500" dirty="0"/>
          </a:p>
        </p:txBody>
      </p:sp>
      <p:sp>
        <p:nvSpPr>
          <p:cNvPr id="17" name="Text 13"/>
          <p:cNvSpPr/>
          <p:nvPr/>
        </p:nvSpPr>
        <p:spPr>
          <a:xfrm>
            <a:off x="3804884" y="3036094"/>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06</a:t>
            </a:r>
            <a:endParaRPr lang="en-US" sz="1400" dirty="0"/>
          </a:p>
        </p:txBody>
      </p:sp>
      <p:sp>
        <p:nvSpPr>
          <p:cNvPr id="18" name="Text 14"/>
          <p:cNvSpPr/>
          <p:nvPr/>
        </p:nvSpPr>
        <p:spPr>
          <a:xfrm>
            <a:off x="4126353" y="3036094"/>
            <a:ext cx="2721769"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Experimental Results &amp; Evaluation</a:t>
            </a:r>
            <a:endParaRPr lang="en-US" sz="1500" dirty="0"/>
          </a:p>
        </p:txBody>
      </p:sp>
      <p:sp>
        <p:nvSpPr>
          <p:cNvPr id="19" name="Text 15"/>
          <p:cNvSpPr/>
          <p:nvPr/>
        </p:nvSpPr>
        <p:spPr>
          <a:xfrm>
            <a:off x="3804884" y="3500438"/>
            <a:ext cx="214313" cy="250031"/>
          </a:xfrm>
          <a:prstGeom prst="rect">
            <a:avLst/>
          </a:prstGeom>
          <a:noFill/>
          <a:ln/>
        </p:spPr>
        <p:txBody>
          <a:bodyPr wrap="none" lIns="0" tIns="0" rIns="0" bIns="0" rtlCol="0" anchor="t">
            <a:spAutoFit/>
          </a:bodyPr>
          <a:lstStyle/>
          <a:p>
            <a:pPr algn="l" indent="0" marL="0">
              <a:buNone/>
            </a:pPr>
            <a:r>
              <a:rPr lang="en-US" sz="1400" b="1" dirty="0">
                <a:solidFill>
                  <a:srgbClr val="4A148C"/>
                </a:solidFill>
                <a:latin typeface="Source Sans Pro" pitchFamily="34" charset="0"/>
                <a:ea typeface="Source Sans Pro" pitchFamily="34" charset="-122"/>
                <a:cs typeface="Source Sans Pro" pitchFamily="34" charset="-120"/>
              </a:rPr>
              <a:t>07</a:t>
            </a:r>
            <a:endParaRPr lang="en-US" sz="1400" dirty="0"/>
          </a:p>
        </p:txBody>
      </p:sp>
      <p:sp>
        <p:nvSpPr>
          <p:cNvPr id="20" name="Text 16"/>
          <p:cNvSpPr/>
          <p:nvPr/>
        </p:nvSpPr>
        <p:spPr>
          <a:xfrm>
            <a:off x="4126353" y="3500438"/>
            <a:ext cx="2446734" cy="250031"/>
          </a:xfrm>
          <a:prstGeom prst="rect">
            <a:avLst/>
          </a:prstGeom>
          <a:noFill/>
          <a:ln/>
        </p:spPr>
        <p:txBody>
          <a:bodyPr wrap="square" lIns="0" tIns="0" rIns="0" bIns="0" rtlCol="0" anchor="t">
            <a:spAutoFit/>
          </a:bodyPr>
          <a:lstStyle/>
          <a:p>
            <a:pPr algn="l" indent="0" marL="0">
              <a:buNone/>
            </a:pPr>
            <a:r>
              <a:rPr lang="en-US" sz="1500" dirty="0">
                <a:solidFill>
                  <a:srgbClr val="455A64"/>
                </a:solidFill>
                <a:latin typeface="Source Sans Pro" pitchFamily="34" charset="0"/>
                <a:ea typeface="Source Sans Pro" pitchFamily="34" charset="-122"/>
                <a:cs typeface="Source Sans Pro" pitchFamily="34" charset="-120"/>
              </a:rPr>
              <a:t>Future Roadmap &amp; 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571500"/>
            <a:ext cx="2619022"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Problem</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Statement</a:t>
            </a:r>
            <a:endParaRPr lang="en-US" sz="2650" dirty="0"/>
          </a:p>
        </p:txBody>
      </p:sp>
      <p:sp>
        <p:nvSpPr>
          <p:cNvPr id="7" name="Text 3"/>
          <p:cNvSpPr/>
          <p:nvPr/>
        </p:nvSpPr>
        <p:spPr>
          <a:xfrm>
            <a:off x="3476272" y="571500"/>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The IoT Programming Inaccessibility</a:t>
            </a:r>
            <a:endParaRPr lang="en-US" sz="1500" dirty="0"/>
          </a:p>
        </p:txBody>
      </p:sp>
      <p:sp>
        <p:nvSpPr>
          <p:cNvPr id="8" name="Text 4"/>
          <p:cNvSpPr/>
          <p:nvPr/>
        </p:nvSpPr>
        <p:spPr>
          <a:xfrm>
            <a:off x="3626290" y="1035844"/>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Vendor Lock-in:</a:t>
            </a:r>
            <a:r>
              <a:rPr lang="en-US" sz="1150" dirty="0">
                <a:solidFill>
                  <a:srgbClr val="455A64"/>
                </a:solidFill>
                <a:latin typeface="Source Sans Pro" pitchFamily="34" charset="0"/>
                <a:ea typeface="Source Sans Pro" pitchFamily="34" charset="-122"/>
                <a:cs typeface="Source Sans Pro" pitchFamily="34" charset="-120"/>
              </a:rPr>
              <a:t> Devices are often tied to proprietary ecosystems (HomeKit, </a:t>
            </a:r>
            <a:r>
              <a:rPr lang="en-US" sz="1150" dirty="0">
                <a:solidFill>
                  <a:srgbClr val="455A64"/>
                </a:solidFill>
                <a:latin typeface="Source Sans Pro" pitchFamily="34" charset="0"/>
                <a:ea typeface="Source Sans Pro" pitchFamily="34" charset="-122"/>
                <a:cs typeface="Source Sans Pro" pitchFamily="34" charset="-120"/>
              </a:rPr>
              <a:t>Alexa, SmartThings), limiting cross-platform flexibility.</a:t>
            </a:r>
            <a:endParaRPr lang="en-US" sz="1100" dirty="0"/>
          </a:p>
        </p:txBody>
      </p:sp>
      <p:sp>
        <p:nvSpPr>
          <p:cNvPr id="9" name="Text 5"/>
          <p:cNvSpPr/>
          <p:nvPr/>
        </p:nvSpPr>
        <p:spPr>
          <a:xfrm>
            <a:off x="3626290" y="1607344"/>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High Complexity:</a:t>
            </a:r>
            <a:r>
              <a:rPr lang="en-US" sz="1150" dirty="0">
                <a:solidFill>
                  <a:srgbClr val="455A64"/>
                </a:solidFill>
                <a:latin typeface="Source Sans Pro" pitchFamily="34" charset="0"/>
                <a:ea typeface="Source Sans Pro" pitchFamily="34" charset="-122"/>
                <a:cs typeface="Source Sans Pro" pitchFamily="34" charset="-120"/>
              </a:rPr>
              <a:t> Fragmented models demand unique SDKs and management </a:t>
            </a:r>
            <a:r>
              <a:rPr lang="en-US" sz="1150" dirty="0">
                <a:solidFill>
                  <a:srgbClr val="455A64"/>
                </a:solidFill>
                <a:latin typeface="Source Sans Pro" pitchFamily="34" charset="0"/>
                <a:ea typeface="Source Sans Pro" pitchFamily="34" charset="-122"/>
                <a:cs typeface="Source Sans Pro" pitchFamily="34" charset="-120"/>
              </a:rPr>
              <a:t>of low-level details like WiFi provisioning.</a:t>
            </a:r>
            <a:endParaRPr lang="en-US" sz="1100" dirty="0"/>
          </a:p>
        </p:txBody>
      </p:sp>
      <p:sp>
        <p:nvSpPr>
          <p:cNvPr id="10" name="Text 6"/>
          <p:cNvSpPr/>
          <p:nvPr/>
        </p:nvSpPr>
        <p:spPr>
          <a:xfrm>
            <a:off x="3626290" y="2178844"/>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Semantic Gap:</a:t>
            </a:r>
            <a:r>
              <a:rPr lang="en-US" sz="1150" dirty="0">
                <a:solidFill>
                  <a:srgbClr val="455A64"/>
                </a:solidFill>
                <a:latin typeface="Source Sans Pro" pitchFamily="34" charset="0"/>
                <a:ea typeface="Source Sans Pro" pitchFamily="34" charset="-122"/>
                <a:cs typeface="Source Sans Pro" pitchFamily="34" charset="-120"/>
              </a:rPr>
              <a:t> Simple logical intents require hundreds of lines of code across </a:t>
            </a:r>
            <a:r>
              <a:rPr lang="en-US" sz="1150" dirty="0">
                <a:solidFill>
                  <a:srgbClr val="455A64"/>
                </a:solidFill>
                <a:latin typeface="Source Sans Pro" pitchFamily="34" charset="0"/>
                <a:ea typeface="Source Sans Pro" pitchFamily="34" charset="-122"/>
                <a:cs typeface="Source Sans Pro" pitchFamily="34" charset="-120"/>
              </a:rPr>
              <a:t>firmware, servers, and clients.</a:t>
            </a:r>
            <a:endParaRPr lang="en-US" sz="1100" dirty="0"/>
          </a:p>
        </p:txBody>
      </p:sp>
      <p:sp>
        <p:nvSpPr>
          <p:cNvPr id="11" name="Text 7"/>
          <p:cNvSpPr/>
          <p:nvPr/>
        </p:nvSpPr>
        <p:spPr>
          <a:xfrm>
            <a:off x="3476272" y="3221831"/>
            <a:ext cx="5238099" cy="160009"/>
          </a:xfrm>
          <a:prstGeom prst="rect">
            <a:avLst/>
          </a:prstGeom>
          <a:noFill/>
          <a:ln/>
        </p:spPr>
        <p:txBody>
          <a:bodyPr wrap="none" lIns="0" tIns="0" rIns="0" bIns="0" rtlCol="0" anchor="t">
            <a:spAutoFit/>
          </a:bodyPr>
          <a:lstStyle/>
          <a:p>
            <a:pPr algn="l" indent="0" marL="0">
              <a:lnSpc>
                <a:spcPct val="128000"/>
              </a:lnSpc>
              <a:buNone/>
            </a:pPr>
            <a:r>
              <a:rPr lang="en-US" sz="700" b="1" i="1" spc="1" kern="0" dirty="0">
                <a:solidFill>
                  <a:srgbClr val="4A148C"/>
                </a:solidFill>
                <a:latin typeface="Source Sans Pro" pitchFamily="34" charset="0"/>
                <a:ea typeface="Source Sans Pro" pitchFamily="34" charset="-122"/>
                <a:cs typeface="Source Sans Pro" pitchFamily="34" charset="-120"/>
              </a:rPr>
              <a:t>RESEARCH QUESTION</a:t>
            </a:r>
            <a:endParaRPr lang="en-US" sz="700" dirty="0"/>
          </a:p>
        </p:txBody>
      </p:sp>
      <p:sp>
        <p:nvSpPr>
          <p:cNvPr id="12" name="Text 8"/>
          <p:cNvSpPr/>
          <p:nvPr/>
        </p:nvSpPr>
        <p:spPr>
          <a:xfrm>
            <a:off x="3476272" y="3481853"/>
            <a:ext cx="4668441" cy="214313"/>
          </a:xfrm>
          <a:prstGeom prst="rect">
            <a:avLst/>
          </a:prstGeom>
          <a:noFill/>
          <a:ln/>
        </p:spPr>
        <p:txBody>
          <a:bodyPr wrap="none" lIns="0" tIns="0" rIns="0" bIns="0" rtlCol="0" anchor="t">
            <a:spAutoFit/>
          </a:bodyPr>
          <a:lstStyle/>
          <a:p>
            <a:pPr algn="l" indent="0" marL="0">
              <a:lnSpc>
                <a:spcPct val="128000"/>
              </a:lnSpc>
              <a:buNone/>
            </a:pPr>
            <a:r>
              <a:rPr lang="en-US" sz="1250" i="1" dirty="0">
                <a:solidFill>
                  <a:srgbClr val="263238"/>
                </a:solidFill>
                <a:latin typeface="Source Sans Pro" pitchFamily="34" charset="0"/>
                <a:ea typeface="Source Sans Pro" pitchFamily="34" charset="-122"/>
                <a:cs typeface="Source Sans Pro" pitchFamily="34" charset="-120"/>
              </a:rPr>
              <a:t>"Can we design a modular IoT platform where physical blocks are</a:t>
            </a:r>
            <a:endParaRPr lang="en-US" sz="1250" dirty="0"/>
          </a:p>
        </p:txBody>
      </p:sp>
      <p:sp>
        <p:nvSpPr>
          <p:cNvPr id="13" name="Text 9"/>
          <p:cNvSpPr/>
          <p:nvPr/>
        </p:nvSpPr>
        <p:spPr>
          <a:xfrm>
            <a:off x="3476272" y="3756161"/>
            <a:ext cx="4893469" cy="214313"/>
          </a:xfrm>
          <a:prstGeom prst="rect">
            <a:avLst/>
          </a:prstGeom>
          <a:noFill/>
          <a:ln/>
        </p:spPr>
        <p:txBody>
          <a:bodyPr wrap="none" lIns="0" tIns="0" rIns="0" bIns="0" rtlCol="0" anchor="t">
            <a:spAutoFit/>
          </a:bodyPr>
          <a:lstStyle/>
          <a:p>
            <a:pPr algn="l" indent="0" marL="0">
              <a:lnSpc>
                <a:spcPct val="128000"/>
              </a:lnSpc>
              <a:buNone/>
            </a:pPr>
            <a:r>
              <a:rPr lang="en-US" sz="1250" i="1" dirty="0">
                <a:solidFill>
                  <a:srgbClr val="263238"/>
                </a:solidFill>
                <a:latin typeface="Source Sans Pro" pitchFamily="34" charset="0"/>
                <a:ea typeface="Source Sans Pro" pitchFamily="34" charset="-122"/>
                <a:cs typeface="Source Sans Pro" pitchFamily="34" charset="-120"/>
              </a:rPr>
              <a:t>abstracted as first-class software objects, and automation scripts are</a:t>
            </a:r>
            <a:endParaRPr lang="en-US" sz="1250" dirty="0"/>
          </a:p>
        </p:txBody>
      </p:sp>
      <p:sp>
        <p:nvSpPr>
          <p:cNvPr id="14" name="Text 10"/>
          <p:cNvSpPr/>
          <p:nvPr/>
        </p:nvSpPr>
        <p:spPr>
          <a:xfrm>
            <a:off x="3476272" y="4030470"/>
            <a:ext cx="4986338" cy="214313"/>
          </a:xfrm>
          <a:prstGeom prst="rect">
            <a:avLst/>
          </a:prstGeom>
          <a:noFill/>
          <a:ln/>
        </p:spPr>
        <p:txBody>
          <a:bodyPr wrap="none" lIns="0" tIns="0" rIns="0" bIns="0" rtlCol="0" anchor="t">
            <a:spAutoFit/>
          </a:bodyPr>
          <a:lstStyle/>
          <a:p>
            <a:pPr algn="l" indent="0" marL="0">
              <a:lnSpc>
                <a:spcPct val="128000"/>
              </a:lnSpc>
              <a:buNone/>
            </a:pPr>
            <a:r>
              <a:rPr lang="en-US" sz="1250" i="1" dirty="0">
                <a:solidFill>
                  <a:srgbClr val="263238"/>
                </a:solidFill>
                <a:latin typeface="Source Sans Pro" pitchFamily="34" charset="0"/>
                <a:ea typeface="Source Sans Pro" pitchFamily="34" charset="-122"/>
                <a:cs typeface="Source Sans Pro" pitchFamily="34" charset="-120"/>
              </a:rPr>
              <a:t>autonomously synthesized from natural language by an agentic LLM?"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571500"/>
            <a:ext cx="2619022"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System</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Architecture</a:t>
            </a:r>
            <a:endParaRPr lang="en-US" sz="2650" dirty="0"/>
          </a:p>
        </p:txBody>
      </p:sp>
      <p:sp>
        <p:nvSpPr>
          <p:cNvPr id="7" name="Text 3"/>
          <p:cNvSpPr/>
          <p:nvPr/>
        </p:nvSpPr>
        <p:spPr>
          <a:xfrm>
            <a:off x="3476272" y="571500"/>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A Three-Tier Modular Design</a:t>
            </a:r>
            <a:endParaRPr lang="en-US" sz="1500" dirty="0"/>
          </a:p>
        </p:txBody>
      </p:sp>
      <p:sp>
        <p:nvSpPr>
          <p:cNvPr id="8" name="Text 4"/>
          <p:cNvSpPr/>
          <p:nvPr/>
        </p:nvSpPr>
        <p:spPr>
          <a:xfrm>
            <a:off x="3476272" y="1000125"/>
            <a:ext cx="1571402" cy="382191"/>
          </a:xfrm>
          <a:prstGeom prst="rect">
            <a:avLst/>
          </a:prstGeom>
          <a:noFill/>
          <a:ln/>
        </p:spPr>
        <p:txBody>
          <a:bodyPr wrap="square" lIns="0" tIns="127508" rIns="0" bIns="127508" rtlCol="0" anchor="ctr">
            <a:spAutoFit/>
          </a:bodyPr>
          <a:lstStyle/>
          <a:p>
            <a:pPr algn="l" indent="0" marL="0">
              <a:buNone/>
            </a:pPr>
            <a:r>
              <a:rPr lang="en-US" sz="900" b="1" dirty="0">
                <a:solidFill>
                  <a:srgbClr val="4A148C"/>
                </a:solidFill>
                <a:latin typeface="Source Sans Pro" pitchFamily="34" charset="0"/>
                <a:ea typeface="Source Sans Pro" pitchFamily="34" charset="-122"/>
                <a:cs typeface="Source Sans Pro" pitchFamily="34" charset="-120"/>
              </a:rPr>
              <a:t>TIER</a:t>
            </a:r>
            <a:endParaRPr lang="en-US" sz="900" dirty="0"/>
          </a:p>
        </p:txBody>
      </p:sp>
      <p:sp>
        <p:nvSpPr>
          <p:cNvPr id="9" name="Text 5"/>
          <p:cNvSpPr/>
          <p:nvPr/>
        </p:nvSpPr>
        <p:spPr>
          <a:xfrm>
            <a:off x="5047673" y="1000125"/>
            <a:ext cx="1439410" cy="382191"/>
          </a:xfrm>
          <a:prstGeom prst="rect">
            <a:avLst/>
          </a:prstGeom>
          <a:noFill/>
          <a:ln/>
        </p:spPr>
        <p:txBody>
          <a:bodyPr wrap="square" lIns="0" tIns="127508" rIns="0" bIns="127508" rtlCol="0" anchor="ctr">
            <a:spAutoFit/>
          </a:bodyPr>
          <a:lstStyle/>
          <a:p>
            <a:pPr algn="l" indent="0" marL="0">
              <a:buNone/>
            </a:pPr>
            <a:r>
              <a:rPr lang="en-US" sz="900" b="1" dirty="0">
                <a:solidFill>
                  <a:srgbClr val="4A148C"/>
                </a:solidFill>
                <a:latin typeface="Source Sans Pro" pitchFamily="34" charset="0"/>
                <a:ea typeface="Source Sans Pro" pitchFamily="34" charset="-122"/>
                <a:cs typeface="Source Sans Pro" pitchFamily="34" charset="-120"/>
              </a:rPr>
              <a:t>TECHNOLOGY</a:t>
            </a:r>
            <a:endParaRPr lang="en-US" sz="900" dirty="0"/>
          </a:p>
        </p:txBody>
      </p:sp>
      <p:sp>
        <p:nvSpPr>
          <p:cNvPr id="10" name="Text 6"/>
          <p:cNvSpPr/>
          <p:nvPr/>
        </p:nvSpPr>
        <p:spPr>
          <a:xfrm>
            <a:off x="6487083" y="1000125"/>
            <a:ext cx="2227287" cy="382191"/>
          </a:xfrm>
          <a:prstGeom prst="rect">
            <a:avLst/>
          </a:prstGeom>
          <a:noFill/>
          <a:ln/>
        </p:spPr>
        <p:txBody>
          <a:bodyPr wrap="square" lIns="0" tIns="127508" rIns="0" bIns="127508" rtlCol="0" anchor="ctr">
            <a:spAutoFit/>
          </a:bodyPr>
          <a:lstStyle/>
          <a:p>
            <a:pPr algn="l" indent="0" marL="0">
              <a:buNone/>
            </a:pPr>
            <a:r>
              <a:rPr lang="en-US" sz="900" b="1" dirty="0">
                <a:solidFill>
                  <a:srgbClr val="4A148C"/>
                </a:solidFill>
                <a:latin typeface="Source Sans Pro" pitchFamily="34" charset="0"/>
                <a:ea typeface="Source Sans Pro" pitchFamily="34" charset="-122"/>
                <a:cs typeface="Source Sans Pro" pitchFamily="34" charset="-120"/>
              </a:rPr>
              <a:t>RESPONSIBILITY</a:t>
            </a:r>
            <a:endParaRPr lang="en-US" sz="900" dirty="0"/>
          </a:p>
        </p:txBody>
      </p:sp>
      <p:sp>
        <p:nvSpPr>
          <p:cNvPr id="11" name="Text 7"/>
          <p:cNvSpPr/>
          <p:nvPr/>
        </p:nvSpPr>
        <p:spPr>
          <a:xfrm>
            <a:off x="3476272" y="1382316"/>
            <a:ext cx="1571402" cy="617934"/>
          </a:xfrm>
          <a:prstGeom prst="rect">
            <a:avLst/>
          </a:prstGeom>
          <a:noFill/>
          <a:ln/>
        </p:spPr>
        <p:txBody>
          <a:bodyPr wrap="square" lIns="0" tIns="170053" rIns="0" bIns="170053" rtlCol="0" anchor="t">
            <a:spAutoFit/>
          </a:bodyPr>
          <a:lstStyle/>
          <a:p>
            <a:pPr algn="l" indent="0" marL="0">
              <a:buNone/>
            </a:pPr>
            <a:r>
              <a:rPr lang="en-US" sz="900" b="1" dirty="0">
                <a:solidFill>
                  <a:srgbClr val="263238"/>
                </a:solidFill>
                <a:latin typeface="Source Sans Pro" pitchFamily="34" charset="0"/>
                <a:ea typeface="Source Sans Pro" pitchFamily="34" charset="-122"/>
                <a:cs typeface="Source Sans Pro" pitchFamily="34" charset="-120"/>
              </a:rPr>
              <a:t>Presentation</a:t>
            </a:r>
            <a:endParaRPr lang="en-US" sz="900" dirty="0"/>
          </a:p>
        </p:txBody>
      </p:sp>
      <p:sp>
        <p:nvSpPr>
          <p:cNvPr id="12" name="Text 8"/>
          <p:cNvSpPr/>
          <p:nvPr/>
        </p:nvSpPr>
        <p:spPr>
          <a:xfrm>
            <a:off x="5047673" y="1382316"/>
            <a:ext cx="1439410" cy="617934"/>
          </a:xfrm>
          <a:prstGeom prst="rect">
            <a:avLst/>
          </a:prstGeom>
          <a:noFill/>
          <a:ln/>
        </p:spPr>
        <p:txBody>
          <a:bodyPr wrap="square" lIns="0" tIns="170053" rIns="0" bIns="170053" rtlCol="0" anchor="t">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React, React Flow, DeepSeek API</a:t>
            </a:r>
            <a:endParaRPr lang="en-US" sz="950" dirty="0"/>
          </a:p>
        </p:txBody>
      </p:sp>
      <p:sp>
        <p:nvSpPr>
          <p:cNvPr id="13" name="Text 9"/>
          <p:cNvSpPr/>
          <p:nvPr/>
        </p:nvSpPr>
        <p:spPr>
          <a:xfrm>
            <a:off x="6487083" y="1382316"/>
            <a:ext cx="2227287" cy="617934"/>
          </a:xfrm>
          <a:prstGeom prst="rect">
            <a:avLst/>
          </a:prstGeom>
          <a:noFill/>
          <a:ln/>
        </p:spPr>
        <p:txBody>
          <a:bodyPr wrap="square" lIns="0" tIns="170053" rIns="0" bIns="170053" rtlCol="0" anchor="t">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User interface, flow visualization, chatbot interaction</a:t>
            </a:r>
            <a:endParaRPr lang="en-US" sz="950" dirty="0"/>
          </a:p>
        </p:txBody>
      </p:sp>
      <p:sp>
        <p:nvSpPr>
          <p:cNvPr id="14" name="Text 10"/>
          <p:cNvSpPr/>
          <p:nvPr/>
        </p:nvSpPr>
        <p:spPr>
          <a:xfrm>
            <a:off x="3476272" y="2000250"/>
            <a:ext cx="1571402" cy="614363"/>
          </a:xfrm>
          <a:prstGeom prst="rect">
            <a:avLst/>
          </a:prstGeom>
          <a:noFill/>
          <a:ln/>
        </p:spPr>
        <p:txBody>
          <a:bodyPr wrap="square" lIns="0" tIns="170053" rIns="0" bIns="170053" rtlCol="0" anchor="t">
            <a:spAutoFit/>
          </a:bodyPr>
          <a:lstStyle/>
          <a:p>
            <a:pPr algn="l" indent="0" marL="0">
              <a:buNone/>
            </a:pPr>
            <a:r>
              <a:rPr lang="en-US" sz="900" b="1" dirty="0">
                <a:solidFill>
                  <a:srgbClr val="263238"/>
                </a:solidFill>
                <a:latin typeface="Source Sans Pro" pitchFamily="34" charset="0"/>
                <a:ea typeface="Source Sans Pro" pitchFamily="34" charset="-122"/>
                <a:cs typeface="Source Sans Pro" pitchFamily="34" charset="-120"/>
              </a:rPr>
              <a:t>Control</a:t>
            </a:r>
            <a:endParaRPr lang="en-US" sz="900" dirty="0"/>
          </a:p>
        </p:txBody>
      </p:sp>
      <p:sp>
        <p:nvSpPr>
          <p:cNvPr id="15" name="Text 11"/>
          <p:cNvSpPr/>
          <p:nvPr/>
        </p:nvSpPr>
        <p:spPr>
          <a:xfrm>
            <a:off x="5047673" y="2000250"/>
            <a:ext cx="1439410" cy="614363"/>
          </a:xfrm>
          <a:prstGeom prst="rect">
            <a:avLst/>
          </a:prstGeom>
          <a:noFill/>
          <a:ln/>
        </p:spPr>
        <p:txBody>
          <a:bodyPr wrap="square" lIns="0" tIns="170053" rIns="0" bIns="170053" rtlCol="0" anchor="t">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Python 3.13, blocks.py</a:t>
            </a:r>
            <a:endParaRPr lang="en-US" sz="950" dirty="0"/>
          </a:p>
        </p:txBody>
      </p:sp>
      <p:sp>
        <p:nvSpPr>
          <p:cNvPr id="16" name="Text 12"/>
          <p:cNvSpPr/>
          <p:nvPr/>
        </p:nvSpPr>
        <p:spPr>
          <a:xfrm>
            <a:off x="6487083" y="2000250"/>
            <a:ext cx="2227287" cy="614363"/>
          </a:xfrm>
          <a:prstGeom prst="rect">
            <a:avLst/>
          </a:prstGeom>
          <a:noFill/>
          <a:ln/>
        </p:spPr>
        <p:txBody>
          <a:bodyPr wrap="square" lIns="0" tIns="170053" rIns="0" bIns="170053" rtlCol="0" anchor="t">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Device orchestration, script execution, AI tool-calling</a:t>
            </a:r>
            <a:endParaRPr lang="en-US" sz="950" dirty="0"/>
          </a:p>
        </p:txBody>
      </p:sp>
      <p:sp>
        <p:nvSpPr>
          <p:cNvPr id="17" name="Text 13"/>
          <p:cNvSpPr/>
          <p:nvPr/>
        </p:nvSpPr>
        <p:spPr>
          <a:xfrm>
            <a:off x="3476272" y="2614613"/>
            <a:ext cx="1571402" cy="614363"/>
          </a:xfrm>
          <a:prstGeom prst="rect">
            <a:avLst/>
          </a:prstGeom>
          <a:noFill/>
          <a:ln/>
        </p:spPr>
        <p:txBody>
          <a:bodyPr wrap="square" lIns="0" tIns="170053" rIns="0" bIns="170053" rtlCol="0" anchor="t">
            <a:spAutoFit/>
          </a:bodyPr>
          <a:lstStyle/>
          <a:p>
            <a:pPr algn="l" indent="0" marL="0">
              <a:buNone/>
            </a:pPr>
            <a:r>
              <a:rPr lang="en-US" sz="900" b="1" dirty="0">
                <a:solidFill>
                  <a:srgbClr val="263238"/>
                </a:solidFill>
                <a:latin typeface="Source Sans Pro" pitchFamily="34" charset="0"/>
                <a:ea typeface="Source Sans Pro" pitchFamily="34" charset="-122"/>
                <a:cs typeface="Source Sans Pro" pitchFamily="34" charset="-120"/>
              </a:rPr>
              <a:t>Physical</a:t>
            </a:r>
            <a:endParaRPr lang="en-US" sz="900" dirty="0"/>
          </a:p>
        </p:txBody>
      </p:sp>
      <p:sp>
        <p:nvSpPr>
          <p:cNvPr id="18" name="Text 14"/>
          <p:cNvSpPr/>
          <p:nvPr/>
        </p:nvSpPr>
        <p:spPr>
          <a:xfrm>
            <a:off x="5047673" y="2614613"/>
            <a:ext cx="1439410" cy="614363"/>
          </a:xfrm>
          <a:prstGeom prst="rect">
            <a:avLst/>
          </a:prstGeom>
          <a:noFill/>
          <a:ln/>
        </p:spPr>
        <p:txBody>
          <a:bodyPr wrap="square" lIns="0" tIns="170053" rIns="0" bIns="170053" rtlCol="0" anchor="t">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ESP8266, C++/Arduino</a:t>
            </a:r>
            <a:endParaRPr lang="en-US" sz="950" dirty="0"/>
          </a:p>
        </p:txBody>
      </p:sp>
      <p:sp>
        <p:nvSpPr>
          <p:cNvPr id="19" name="Text 15"/>
          <p:cNvSpPr/>
          <p:nvPr/>
        </p:nvSpPr>
        <p:spPr>
          <a:xfrm>
            <a:off x="6487083" y="2614613"/>
            <a:ext cx="2227287" cy="614363"/>
          </a:xfrm>
          <a:prstGeom prst="rect">
            <a:avLst/>
          </a:prstGeom>
          <a:noFill/>
          <a:ln/>
        </p:spPr>
        <p:txBody>
          <a:bodyPr wrap="square" lIns="0" tIns="170053" rIns="0" bIns="170053" rtlCol="0" anchor="t">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Sensor reading, actuator control, local REST API</a:t>
            </a:r>
            <a:endParaRPr lang="en-US" sz="950" dirty="0"/>
          </a:p>
        </p:txBody>
      </p:sp>
      <p:sp>
        <p:nvSpPr>
          <p:cNvPr id="20" name="Text 16"/>
          <p:cNvSpPr/>
          <p:nvPr/>
        </p:nvSpPr>
        <p:spPr>
          <a:xfrm>
            <a:off x="3476272" y="3518297"/>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Connectivity Milestones</a:t>
            </a:r>
            <a:endParaRPr lang="en-US" sz="1500" dirty="0"/>
          </a:p>
        </p:txBody>
      </p:sp>
      <p:sp>
        <p:nvSpPr>
          <p:cNvPr id="21" name="Text 17"/>
          <p:cNvSpPr/>
          <p:nvPr/>
        </p:nvSpPr>
        <p:spPr>
          <a:xfrm>
            <a:off x="3626290" y="3946922"/>
            <a:ext cx="4982766" cy="178594"/>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Dual-Mode WiFi:</a:t>
            </a:r>
            <a:r>
              <a:rPr lang="en-US" sz="1050" dirty="0">
                <a:solidFill>
                  <a:srgbClr val="455A64"/>
                </a:solidFill>
                <a:latin typeface="Source Sans Pro" pitchFamily="34" charset="0"/>
                <a:ea typeface="Source Sans Pro" pitchFamily="34" charset="-122"/>
                <a:cs typeface="Source Sans Pro" pitchFamily="34" charset="-120"/>
              </a:rPr>
              <a:t> Simultaneous AP + Station Mode (WIFI_AP_STA) for easy provisioning.</a:t>
            </a:r>
            <a:endParaRPr lang="en-US" sz="1000" dirty="0"/>
          </a:p>
        </p:txBody>
      </p:sp>
      <p:sp>
        <p:nvSpPr>
          <p:cNvPr id="22" name="Text 18"/>
          <p:cNvSpPr/>
          <p:nvPr/>
        </p:nvSpPr>
        <p:spPr>
          <a:xfrm>
            <a:off x="3626290" y="4232672"/>
            <a:ext cx="5088080"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Zero-Config:</a:t>
            </a:r>
            <a:r>
              <a:rPr lang="en-US" sz="1050" dirty="0">
                <a:solidFill>
                  <a:srgbClr val="455A64"/>
                </a:solidFill>
                <a:latin typeface="Source Sans Pro" pitchFamily="34" charset="0"/>
                <a:ea typeface="Source Sans Pro" pitchFamily="34" charset="-122"/>
                <a:cs typeface="Source Sans Pro" pitchFamily="34" charset="-120"/>
              </a:rPr>
              <a:t> mDNS-based discovery for automatic host resolution without manual IP </a:t>
            </a:r>
            <a:r>
              <a:rPr lang="en-US" sz="1050" dirty="0">
                <a:solidFill>
                  <a:srgbClr val="455A64"/>
                </a:solidFill>
                <a:latin typeface="Source Sans Pro" pitchFamily="34" charset="0"/>
                <a:ea typeface="Source Sans Pro" pitchFamily="34" charset="-122"/>
                <a:cs typeface="Source Sans Pro" pitchFamily="34" charset="-120"/>
              </a:rPr>
              <a:t>entry.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79231"/>
          </a:xfrm>
          <a:prstGeom prst="rect">
            <a:avLst/>
          </a:prstGeom>
        </p:spPr>
      </p:pic>
      <p:sp>
        <p:nvSpPr>
          <p:cNvPr id="4" name="Shape 0"/>
          <p:cNvSpPr/>
          <p:nvPr/>
        </p:nvSpPr>
        <p:spPr>
          <a:xfrm>
            <a:off x="0" y="0"/>
            <a:ext cx="3047647" cy="5279231"/>
          </a:xfrm>
          <a:prstGeom prst="rect">
            <a:avLst/>
          </a:prstGeom>
          <a:solidFill>
            <a:srgbClr val="000000">
              <a:alpha val="0"/>
            </a:srgbClr>
          </a:solidFill>
          <a:ln/>
        </p:spPr>
      </p:sp>
      <p:sp>
        <p:nvSpPr>
          <p:cNvPr id="5" name="Shape 1"/>
          <p:cNvSpPr/>
          <p:nvPr/>
        </p:nvSpPr>
        <p:spPr>
          <a:xfrm>
            <a:off x="3026215" y="0"/>
            <a:ext cx="21431" cy="5279231"/>
          </a:xfrm>
          <a:prstGeom prst="rect">
            <a:avLst/>
          </a:prstGeom>
          <a:solidFill>
            <a:srgbClr val="4A148C"/>
          </a:solidFill>
          <a:ln/>
        </p:spPr>
      </p:sp>
      <p:sp>
        <p:nvSpPr>
          <p:cNvPr id="6" name="Text 2"/>
          <p:cNvSpPr/>
          <p:nvPr/>
        </p:nvSpPr>
        <p:spPr>
          <a:xfrm>
            <a:off x="428625" y="571500"/>
            <a:ext cx="2619022"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Hardware</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Design</a:t>
            </a:r>
            <a:endParaRPr lang="en-US" sz="2650" dirty="0"/>
          </a:p>
        </p:txBody>
      </p:sp>
      <p:sp>
        <p:nvSpPr>
          <p:cNvPr id="7" name="Text 3"/>
          <p:cNvSpPr/>
          <p:nvPr/>
        </p:nvSpPr>
        <p:spPr>
          <a:xfrm>
            <a:off x="3476272" y="571500"/>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Modular Block Abstraction</a:t>
            </a:r>
            <a:endParaRPr lang="en-US" sz="1500" dirty="0"/>
          </a:p>
        </p:txBody>
      </p:sp>
      <p:sp>
        <p:nvSpPr>
          <p:cNvPr id="8" name="Shape 4"/>
          <p:cNvSpPr/>
          <p:nvPr/>
        </p:nvSpPr>
        <p:spPr>
          <a:xfrm>
            <a:off x="3476272" y="1000125"/>
            <a:ext cx="1379916" cy="332184"/>
          </a:xfrm>
          <a:prstGeom prst="rect">
            <a:avLst/>
          </a:prstGeom>
          <a:solidFill>
            <a:srgbClr val="4A148C"/>
          </a:solidFill>
          <a:ln/>
        </p:spPr>
      </p:sp>
      <p:sp>
        <p:nvSpPr>
          <p:cNvPr id="9" name="Text 5"/>
          <p:cNvSpPr/>
          <p:nvPr/>
        </p:nvSpPr>
        <p:spPr>
          <a:xfrm>
            <a:off x="3476272" y="1000125"/>
            <a:ext cx="1379916" cy="332184"/>
          </a:xfrm>
          <a:prstGeom prst="rect">
            <a:avLst/>
          </a:prstGeom>
          <a:noFill/>
          <a:ln/>
        </p:spPr>
        <p:txBody>
          <a:bodyPr wrap="square" lIns="127508" tIns="102108" rIns="127508" bIns="102108" rtlCol="0" anchor="ctr">
            <a:spAutoFit/>
          </a:bodyPr>
          <a:lstStyle/>
          <a:p>
            <a:pPr algn="l" indent="0" marL="0">
              <a:buNone/>
            </a:pPr>
            <a:r>
              <a:rPr lang="en-US" sz="950" dirty="0">
                <a:solidFill>
                  <a:srgbClr val="FFFFFF"/>
                </a:solidFill>
                <a:latin typeface="Source Sans Pro" pitchFamily="34" charset="0"/>
                <a:ea typeface="Source Sans Pro" pitchFamily="34" charset="-122"/>
                <a:cs typeface="Source Sans Pro" pitchFamily="34" charset="-120"/>
              </a:rPr>
              <a:t>Block Type</a:t>
            </a:r>
            <a:endParaRPr lang="en-US" sz="950" dirty="0"/>
          </a:p>
        </p:txBody>
      </p:sp>
      <p:sp>
        <p:nvSpPr>
          <p:cNvPr id="10" name="Shape 6"/>
          <p:cNvSpPr/>
          <p:nvPr/>
        </p:nvSpPr>
        <p:spPr>
          <a:xfrm>
            <a:off x="4856187" y="1000125"/>
            <a:ext cx="2382441" cy="332184"/>
          </a:xfrm>
          <a:prstGeom prst="rect">
            <a:avLst/>
          </a:prstGeom>
          <a:solidFill>
            <a:srgbClr val="4A148C"/>
          </a:solidFill>
          <a:ln/>
        </p:spPr>
      </p:sp>
      <p:sp>
        <p:nvSpPr>
          <p:cNvPr id="11" name="Text 7"/>
          <p:cNvSpPr/>
          <p:nvPr/>
        </p:nvSpPr>
        <p:spPr>
          <a:xfrm>
            <a:off x="4856187" y="1000125"/>
            <a:ext cx="2382441" cy="332184"/>
          </a:xfrm>
          <a:prstGeom prst="rect">
            <a:avLst/>
          </a:prstGeom>
          <a:noFill/>
          <a:ln/>
        </p:spPr>
        <p:txBody>
          <a:bodyPr wrap="square" lIns="127508" tIns="102108" rIns="127508" bIns="102108" rtlCol="0" anchor="ctr">
            <a:spAutoFit/>
          </a:bodyPr>
          <a:lstStyle/>
          <a:p>
            <a:pPr algn="l" indent="0" marL="0">
              <a:buNone/>
            </a:pPr>
            <a:r>
              <a:rPr lang="en-US" sz="950" dirty="0">
                <a:solidFill>
                  <a:srgbClr val="FFFFFF"/>
                </a:solidFill>
                <a:latin typeface="Source Sans Pro" pitchFamily="34" charset="0"/>
                <a:ea typeface="Source Sans Pro" pitchFamily="34" charset="-122"/>
                <a:cs typeface="Source Sans Pro" pitchFamily="34" charset="-120"/>
              </a:rPr>
              <a:t>Physical Component</a:t>
            </a:r>
            <a:endParaRPr lang="en-US" sz="950" dirty="0"/>
          </a:p>
        </p:txBody>
      </p:sp>
      <p:sp>
        <p:nvSpPr>
          <p:cNvPr id="12" name="Shape 8"/>
          <p:cNvSpPr/>
          <p:nvPr/>
        </p:nvSpPr>
        <p:spPr>
          <a:xfrm>
            <a:off x="7238628" y="1000125"/>
            <a:ext cx="1475742" cy="332184"/>
          </a:xfrm>
          <a:prstGeom prst="rect">
            <a:avLst/>
          </a:prstGeom>
          <a:solidFill>
            <a:srgbClr val="4A148C"/>
          </a:solidFill>
          <a:ln/>
        </p:spPr>
      </p:sp>
      <p:sp>
        <p:nvSpPr>
          <p:cNvPr id="13" name="Text 9"/>
          <p:cNvSpPr/>
          <p:nvPr/>
        </p:nvSpPr>
        <p:spPr>
          <a:xfrm>
            <a:off x="7238628" y="1000125"/>
            <a:ext cx="1475742" cy="332184"/>
          </a:xfrm>
          <a:prstGeom prst="rect">
            <a:avLst/>
          </a:prstGeom>
          <a:noFill/>
          <a:ln/>
        </p:spPr>
        <p:txBody>
          <a:bodyPr wrap="square" lIns="127508" tIns="102108" rIns="127508" bIns="102108" rtlCol="0" anchor="ctr">
            <a:spAutoFit/>
          </a:bodyPr>
          <a:lstStyle/>
          <a:p>
            <a:pPr algn="l" indent="0" marL="0">
              <a:buNone/>
            </a:pPr>
            <a:r>
              <a:rPr lang="en-US" sz="950" dirty="0">
                <a:solidFill>
                  <a:srgbClr val="FFFFFF"/>
                </a:solidFill>
                <a:latin typeface="Source Sans Pro" pitchFamily="34" charset="0"/>
                <a:ea typeface="Source Sans Pro" pitchFamily="34" charset="-122"/>
                <a:cs typeface="Source Sans Pro" pitchFamily="34" charset="-120"/>
              </a:rPr>
              <a:t>Direction</a:t>
            </a:r>
            <a:endParaRPr lang="en-US" sz="950" dirty="0"/>
          </a:p>
        </p:txBody>
      </p:sp>
      <p:sp>
        <p:nvSpPr>
          <p:cNvPr id="14" name="Text 10"/>
          <p:cNvSpPr/>
          <p:nvPr/>
        </p:nvSpPr>
        <p:spPr>
          <a:xfrm>
            <a:off x="3476272" y="1332309"/>
            <a:ext cx="1379916" cy="335756"/>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LED</a:t>
            </a:r>
            <a:endParaRPr lang="en-US" sz="950" dirty="0"/>
          </a:p>
        </p:txBody>
      </p:sp>
      <p:sp>
        <p:nvSpPr>
          <p:cNvPr id="15" name="Text 11"/>
          <p:cNvSpPr/>
          <p:nvPr/>
        </p:nvSpPr>
        <p:spPr>
          <a:xfrm>
            <a:off x="4856187" y="1332309"/>
            <a:ext cx="2382441" cy="335756"/>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5mm LED + 220Ω Resistor</a:t>
            </a:r>
            <a:endParaRPr lang="en-US" sz="950" dirty="0"/>
          </a:p>
        </p:txBody>
      </p:sp>
      <p:sp>
        <p:nvSpPr>
          <p:cNvPr id="16" name="Text 12"/>
          <p:cNvSpPr/>
          <p:nvPr/>
        </p:nvSpPr>
        <p:spPr>
          <a:xfrm>
            <a:off x="7238628" y="1332309"/>
            <a:ext cx="1475742" cy="335756"/>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Output</a:t>
            </a:r>
            <a:endParaRPr lang="en-US" sz="950" dirty="0"/>
          </a:p>
        </p:txBody>
      </p:sp>
      <p:sp>
        <p:nvSpPr>
          <p:cNvPr id="17" name="Text 13"/>
          <p:cNvSpPr/>
          <p:nvPr/>
        </p:nvSpPr>
        <p:spPr>
          <a:xfrm>
            <a:off x="3476272" y="1668066"/>
            <a:ext cx="1379916"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Buzzer</a:t>
            </a:r>
            <a:endParaRPr lang="en-US" sz="950" dirty="0"/>
          </a:p>
        </p:txBody>
      </p:sp>
      <p:sp>
        <p:nvSpPr>
          <p:cNvPr id="18" name="Text 14"/>
          <p:cNvSpPr/>
          <p:nvPr/>
        </p:nvSpPr>
        <p:spPr>
          <a:xfrm>
            <a:off x="4856187" y="1668066"/>
            <a:ext cx="2382441"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Piezoelectric Buzzer</a:t>
            </a:r>
            <a:endParaRPr lang="en-US" sz="950" dirty="0"/>
          </a:p>
        </p:txBody>
      </p:sp>
      <p:sp>
        <p:nvSpPr>
          <p:cNvPr id="19" name="Text 15"/>
          <p:cNvSpPr/>
          <p:nvPr/>
        </p:nvSpPr>
        <p:spPr>
          <a:xfrm>
            <a:off x="7238628" y="1668066"/>
            <a:ext cx="1475742"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Output</a:t>
            </a:r>
            <a:endParaRPr lang="en-US" sz="950" dirty="0"/>
          </a:p>
        </p:txBody>
      </p:sp>
      <p:sp>
        <p:nvSpPr>
          <p:cNvPr id="20" name="Text 16"/>
          <p:cNvSpPr/>
          <p:nvPr/>
        </p:nvSpPr>
        <p:spPr>
          <a:xfrm>
            <a:off x="3476272" y="2007394"/>
            <a:ext cx="1379916"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Button</a:t>
            </a:r>
            <a:endParaRPr lang="en-US" sz="950" dirty="0"/>
          </a:p>
        </p:txBody>
      </p:sp>
      <p:sp>
        <p:nvSpPr>
          <p:cNvPr id="21" name="Text 17"/>
          <p:cNvSpPr/>
          <p:nvPr/>
        </p:nvSpPr>
        <p:spPr>
          <a:xfrm>
            <a:off x="4856187" y="2007394"/>
            <a:ext cx="2382441"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Tactile Push-button</a:t>
            </a:r>
            <a:endParaRPr lang="en-US" sz="950" dirty="0"/>
          </a:p>
        </p:txBody>
      </p:sp>
      <p:sp>
        <p:nvSpPr>
          <p:cNvPr id="22" name="Text 18"/>
          <p:cNvSpPr/>
          <p:nvPr/>
        </p:nvSpPr>
        <p:spPr>
          <a:xfrm>
            <a:off x="7238628" y="2007394"/>
            <a:ext cx="1475742"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Input</a:t>
            </a:r>
            <a:endParaRPr lang="en-US" sz="950" dirty="0"/>
          </a:p>
        </p:txBody>
      </p:sp>
      <p:sp>
        <p:nvSpPr>
          <p:cNvPr id="23" name="Text 19"/>
          <p:cNvSpPr/>
          <p:nvPr/>
        </p:nvSpPr>
        <p:spPr>
          <a:xfrm>
            <a:off x="3476272" y="2346722"/>
            <a:ext cx="1379916"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Temperature</a:t>
            </a:r>
            <a:endParaRPr lang="en-US" sz="950" dirty="0"/>
          </a:p>
        </p:txBody>
      </p:sp>
      <p:sp>
        <p:nvSpPr>
          <p:cNvPr id="24" name="Text 20"/>
          <p:cNvSpPr/>
          <p:nvPr/>
        </p:nvSpPr>
        <p:spPr>
          <a:xfrm>
            <a:off x="4856187" y="2346722"/>
            <a:ext cx="2382441"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DS18B20 (OneWire)</a:t>
            </a:r>
            <a:endParaRPr lang="en-US" sz="950" dirty="0"/>
          </a:p>
        </p:txBody>
      </p:sp>
      <p:sp>
        <p:nvSpPr>
          <p:cNvPr id="25" name="Text 21"/>
          <p:cNvSpPr/>
          <p:nvPr/>
        </p:nvSpPr>
        <p:spPr>
          <a:xfrm>
            <a:off x="7238628" y="2346722"/>
            <a:ext cx="1475742"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Sensor</a:t>
            </a:r>
            <a:endParaRPr lang="en-US" sz="950" dirty="0"/>
          </a:p>
        </p:txBody>
      </p:sp>
      <p:sp>
        <p:nvSpPr>
          <p:cNvPr id="26" name="Text 22"/>
          <p:cNvSpPr/>
          <p:nvPr/>
        </p:nvSpPr>
        <p:spPr>
          <a:xfrm>
            <a:off x="3476272" y="2686050"/>
            <a:ext cx="1379916"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Relay</a:t>
            </a:r>
            <a:endParaRPr lang="en-US" sz="950" dirty="0"/>
          </a:p>
        </p:txBody>
      </p:sp>
      <p:sp>
        <p:nvSpPr>
          <p:cNvPr id="27" name="Text 23"/>
          <p:cNvSpPr/>
          <p:nvPr/>
        </p:nvSpPr>
        <p:spPr>
          <a:xfrm>
            <a:off x="4856187" y="2686050"/>
            <a:ext cx="2382441"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5V Relay Module</a:t>
            </a:r>
            <a:endParaRPr lang="en-US" sz="950" dirty="0"/>
          </a:p>
        </p:txBody>
      </p:sp>
      <p:sp>
        <p:nvSpPr>
          <p:cNvPr id="28" name="Text 24"/>
          <p:cNvSpPr/>
          <p:nvPr/>
        </p:nvSpPr>
        <p:spPr>
          <a:xfrm>
            <a:off x="7238628" y="2686050"/>
            <a:ext cx="1475742" cy="339328"/>
          </a:xfrm>
          <a:prstGeom prst="rect">
            <a:avLst/>
          </a:prstGeom>
          <a:noFill/>
          <a:ln/>
        </p:spPr>
        <p:txBody>
          <a:bodyPr wrap="square" lIns="127508" tIns="102108" rIns="127508" bIns="102108" rtlCol="0" anchor="ctr">
            <a:spAutoFit/>
          </a:bodyPr>
          <a:lstStyle/>
          <a:p>
            <a:pPr algn="l" indent="0" marL="0">
              <a:buNone/>
            </a:pPr>
            <a:r>
              <a:rPr lang="en-US" sz="950" dirty="0">
                <a:solidFill>
                  <a:srgbClr val="455A64"/>
                </a:solidFill>
                <a:latin typeface="Source Sans Pro" pitchFamily="34" charset="0"/>
                <a:ea typeface="Source Sans Pro" pitchFamily="34" charset="-122"/>
                <a:cs typeface="Source Sans Pro" pitchFamily="34" charset="-120"/>
              </a:rPr>
              <a:t>Power Output</a:t>
            </a:r>
            <a:endParaRPr lang="en-US" sz="950" dirty="0"/>
          </a:p>
        </p:txBody>
      </p:sp>
      <p:sp>
        <p:nvSpPr>
          <p:cNvPr id="29" name="Text 25"/>
          <p:cNvSpPr/>
          <p:nvPr/>
        </p:nvSpPr>
        <p:spPr>
          <a:xfrm>
            <a:off x="3476272" y="3457575"/>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Key Design Principle: Uniformity</a:t>
            </a:r>
            <a:endParaRPr lang="en-US" sz="1500" dirty="0"/>
          </a:p>
        </p:txBody>
      </p:sp>
      <p:sp>
        <p:nvSpPr>
          <p:cNvPr id="30" name="Text 26"/>
          <p:cNvSpPr/>
          <p:nvPr/>
        </p:nvSpPr>
        <p:spPr>
          <a:xfrm>
            <a:off x="3626290" y="3886200"/>
            <a:ext cx="5088080"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Uniform API Surface:</a:t>
            </a:r>
            <a:r>
              <a:rPr lang="en-US" sz="1050" dirty="0">
                <a:solidFill>
                  <a:srgbClr val="455A64"/>
                </a:solidFill>
                <a:latin typeface="Source Sans Pro" pitchFamily="34" charset="0"/>
                <a:ea typeface="Source Sans Pro" pitchFamily="34" charset="-122"/>
                <a:cs typeface="Source Sans Pro" pitchFamily="34" charset="-120"/>
              </a:rPr>
              <a:t> Every block exposes identical REST endpoints regardless of </a:t>
            </a:r>
            <a:r>
              <a:rPr lang="en-US" sz="1050" dirty="0">
                <a:solidFill>
                  <a:srgbClr val="455A64"/>
                </a:solidFill>
                <a:latin typeface="Source Sans Pro" pitchFamily="34" charset="0"/>
                <a:ea typeface="Source Sans Pro" pitchFamily="34" charset="-122"/>
                <a:cs typeface="Source Sans Pro" pitchFamily="34" charset="-120"/>
              </a:rPr>
              <a:t>physical function.</a:t>
            </a:r>
            <a:endParaRPr lang="en-US" sz="1000" dirty="0"/>
          </a:p>
        </p:txBody>
      </p:sp>
      <p:sp>
        <p:nvSpPr>
          <p:cNvPr id="31" name="Text 27"/>
          <p:cNvSpPr/>
          <p:nvPr/>
        </p:nvSpPr>
        <p:spPr>
          <a:xfrm>
            <a:off x="3626290" y="4350544"/>
            <a:ext cx="5088080"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Hardware Agnostic:</a:t>
            </a:r>
            <a:r>
              <a:rPr lang="en-US" sz="1050" dirty="0">
                <a:solidFill>
                  <a:srgbClr val="455A64"/>
                </a:solidFill>
                <a:latin typeface="Source Sans Pro" pitchFamily="34" charset="0"/>
                <a:ea typeface="Source Sans Pro" pitchFamily="34" charset="-122"/>
                <a:cs typeface="Source Sans Pro" pitchFamily="34" charset="-120"/>
              </a:rPr>
              <a:t> Abstraction hides GPIO complexity, allowing the control layer to </a:t>
            </a:r>
            <a:r>
              <a:rPr lang="en-US" sz="1050" dirty="0">
                <a:solidFill>
                  <a:srgbClr val="455A64"/>
                </a:solidFill>
                <a:latin typeface="Source Sans Pro" pitchFamily="34" charset="0"/>
                <a:ea typeface="Source Sans Pro" pitchFamily="34" charset="-122"/>
                <a:cs typeface="Source Sans Pro" pitchFamily="34" charset="-120"/>
              </a:rPr>
              <a:t>treat all blocks polymorphically.</a:t>
            </a:r>
            <a:endParaRPr lang="en-US" sz="1000" dirty="0"/>
          </a:p>
        </p:txBody>
      </p:sp>
      <p:sp>
        <p:nvSpPr>
          <p:cNvPr id="32" name="Text 28"/>
          <p:cNvSpPr/>
          <p:nvPr/>
        </p:nvSpPr>
        <p:spPr>
          <a:xfrm>
            <a:off x="3626290" y="4814888"/>
            <a:ext cx="5088080"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Self-Contained:</a:t>
            </a:r>
            <a:r>
              <a:rPr lang="en-US" sz="1050" dirty="0">
                <a:solidFill>
                  <a:srgbClr val="455A64"/>
                </a:solidFill>
                <a:latin typeface="Source Sans Pro" pitchFamily="34" charset="0"/>
                <a:ea typeface="Source Sans Pro" pitchFamily="34" charset="-122"/>
                <a:cs typeface="Source Sans Pro" pitchFamily="34" charset="-120"/>
              </a:rPr>
              <a:t> Each block is an independent ESP8266 module with its own local </a:t>
            </a:r>
            <a:r>
              <a:rPr lang="en-US" sz="1050" dirty="0">
                <a:solidFill>
                  <a:srgbClr val="455A64"/>
                </a:solidFill>
                <a:latin typeface="Source Sans Pro" pitchFamily="34" charset="0"/>
                <a:ea typeface="Source Sans Pro" pitchFamily="34" charset="-122"/>
                <a:cs typeface="Source Sans Pro" pitchFamily="34" charset="-120"/>
              </a:rPr>
              <a:t>intelligence.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571500"/>
            <a:ext cx="2619022"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Firmware &amp;</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Connectivity</a:t>
            </a:r>
            <a:endParaRPr lang="en-US" sz="2650" dirty="0"/>
          </a:p>
        </p:txBody>
      </p:sp>
      <p:sp>
        <p:nvSpPr>
          <p:cNvPr id="7" name="Text 3"/>
          <p:cNvSpPr/>
          <p:nvPr/>
        </p:nvSpPr>
        <p:spPr>
          <a:xfrm>
            <a:off x="3476272" y="571500"/>
            <a:ext cx="5238099" cy="250031"/>
          </a:xfrm>
          <a:prstGeom prst="rect">
            <a:avLst/>
          </a:prstGeom>
          <a:noFill/>
          <a:ln/>
        </p:spPr>
        <p:txBody>
          <a:bodyPr wrap="square" lIns="127508"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Robust Networking Features</a:t>
            </a:r>
            <a:endParaRPr lang="en-US" sz="1500" dirty="0"/>
          </a:p>
        </p:txBody>
      </p:sp>
      <p:sp>
        <p:nvSpPr>
          <p:cNvPr id="8" name="Text 4"/>
          <p:cNvSpPr/>
          <p:nvPr/>
        </p:nvSpPr>
        <p:spPr>
          <a:xfrm>
            <a:off x="3604859" y="1000125"/>
            <a:ext cx="2418997" cy="535781"/>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Dual-Mode WiFi:</a:t>
            </a:r>
            <a:r>
              <a:rPr lang="en-US" sz="1050" dirty="0">
                <a:solidFill>
                  <a:srgbClr val="455A64"/>
                </a:solidFill>
                <a:latin typeface="Source Sans Pro" pitchFamily="34" charset="0"/>
                <a:ea typeface="Source Sans Pro" pitchFamily="34" charset="-122"/>
                <a:cs typeface="Source Sans Pro" pitchFamily="34" charset="-120"/>
              </a:rPr>
              <a:t> Simultaneous AP + </a:t>
            </a:r>
            <a:r>
              <a:rPr lang="en-US" sz="1050" dirty="0">
                <a:solidFill>
                  <a:srgbClr val="455A64"/>
                </a:solidFill>
                <a:latin typeface="Source Sans Pro" pitchFamily="34" charset="0"/>
                <a:ea typeface="Source Sans Pro" pitchFamily="34" charset="-122"/>
                <a:cs typeface="Source Sans Pro" pitchFamily="34" charset="-120"/>
              </a:rPr>
              <a:t>Station mode for local config and cloud </a:t>
            </a:r>
            <a:r>
              <a:rPr lang="en-US" sz="1050" dirty="0">
                <a:solidFill>
                  <a:srgbClr val="455A64"/>
                </a:solidFill>
                <a:latin typeface="Source Sans Pro" pitchFamily="34" charset="0"/>
                <a:ea typeface="Source Sans Pro" pitchFamily="34" charset="-122"/>
                <a:cs typeface="Source Sans Pro" pitchFamily="34" charset="-120"/>
              </a:rPr>
              <a:t>sync.</a:t>
            </a:r>
            <a:endParaRPr lang="en-US" sz="1000" dirty="0"/>
          </a:p>
        </p:txBody>
      </p:sp>
      <p:sp>
        <p:nvSpPr>
          <p:cNvPr id="9" name="Text 5"/>
          <p:cNvSpPr/>
          <p:nvPr/>
        </p:nvSpPr>
        <p:spPr>
          <a:xfrm>
            <a:off x="6295318" y="1000125"/>
            <a:ext cx="2419052"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Captive Portal:</a:t>
            </a:r>
            <a:r>
              <a:rPr lang="en-US" sz="1050" dirty="0">
                <a:solidFill>
                  <a:srgbClr val="455A64"/>
                </a:solidFill>
                <a:latin typeface="Source Sans Pro" pitchFamily="34" charset="0"/>
                <a:ea typeface="Source Sans Pro" pitchFamily="34" charset="-122"/>
                <a:cs typeface="Source Sans Pro" pitchFamily="34" charset="-120"/>
              </a:rPr>
              <a:t> Zero-code WiFi </a:t>
            </a:r>
            <a:r>
              <a:rPr lang="en-US" sz="1050" dirty="0">
                <a:solidFill>
                  <a:srgbClr val="455A64"/>
                </a:solidFill>
                <a:latin typeface="Source Sans Pro" pitchFamily="34" charset="0"/>
                <a:ea typeface="Source Sans Pro" pitchFamily="34" charset="-122"/>
                <a:cs typeface="Source Sans Pro" pitchFamily="34" charset="-120"/>
              </a:rPr>
              <a:t>provisioning via 192.168.4.1.</a:t>
            </a:r>
            <a:endParaRPr lang="en-US" sz="1000" dirty="0"/>
          </a:p>
        </p:txBody>
      </p:sp>
      <p:sp>
        <p:nvSpPr>
          <p:cNvPr id="10" name="Text 6"/>
          <p:cNvSpPr/>
          <p:nvPr/>
        </p:nvSpPr>
        <p:spPr>
          <a:xfrm>
            <a:off x="3604859" y="1678781"/>
            <a:ext cx="2418997"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mDNS Discovery:</a:t>
            </a:r>
            <a:r>
              <a:rPr lang="en-US" sz="1050" dirty="0">
                <a:solidFill>
                  <a:srgbClr val="455A64"/>
                </a:solidFill>
                <a:latin typeface="Source Sans Pro" pitchFamily="34" charset="0"/>
                <a:ea typeface="Source Sans Pro" pitchFamily="34" charset="-122"/>
                <a:cs typeface="Source Sans Pro" pitchFamily="34" charset="-120"/>
              </a:rPr>
              <a:t> Zero-config resolution </a:t>
            </a:r>
            <a:r>
              <a:rPr lang="en-US" sz="1050" dirty="0">
                <a:solidFill>
                  <a:srgbClr val="455A64"/>
                </a:solidFill>
                <a:latin typeface="Source Sans Pro" pitchFamily="34" charset="0"/>
                <a:ea typeface="Source Sans Pro" pitchFamily="34" charset="-122"/>
                <a:cs typeface="Source Sans Pro" pitchFamily="34" charset="-120"/>
              </a:rPr>
              <a:t>(e.g., iot-block-002.local).</a:t>
            </a:r>
            <a:endParaRPr lang="en-US" sz="1000" dirty="0"/>
          </a:p>
        </p:txBody>
      </p:sp>
      <p:sp>
        <p:nvSpPr>
          <p:cNvPr id="11" name="Text 7"/>
          <p:cNvSpPr/>
          <p:nvPr/>
        </p:nvSpPr>
        <p:spPr>
          <a:xfrm>
            <a:off x="6295318" y="1678781"/>
            <a:ext cx="2419052" cy="357188"/>
          </a:xfrm>
          <a:prstGeom prst="rect">
            <a:avLst/>
          </a:prstGeom>
          <a:noFill/>
          <a:ln/>
        </p:spPr>
        <p:txBody>
          <a:bodyPr wrap="square" lIns="0" tIns="0" rIns="0" bIns="0" rtlCol="0" anchor="t">
            <a:spAutoFit/>
          </a:bodyPr>
          <a:lstStyle/>
          <a:p>
            <a:pPr algn="l" indent="0" marL="0">
              <a:buNone/>
            </a:pPr>
            <a:r>
              <a:rPr lang="en-US" sz="1000" b="1" dirty="0">
                <a:solidFill>
                  <a:srgbClr val="4A148C"/>
                </a:solidFill>
                <a:latin typeface="Source Sans Pro" pitchFamily="34" charset="0"/>
                <a:ea typeface="Source Sans Pro" pitchFamily="34" charset="-122"/>
                <a:cs typeface="Source Sans Pro" pitchFamily="34" charset="-120"/>
              </a:rPr>
              <a:t>Persistence:</a:t>
            </a:r>
            <a:r>
              <a:rPr lang="en-US" sz="1050" dirty="0">
                <a:solidFill>
                  <a:srgbClr val="455A64"/>
                </a:solidFill>
                <a:latin typeface="Source Sans Pro" pitchFamily="34" charset="0"/>
                <a:ea typeface="Source Sans Pro" pitchFamily="34" charset="-122"/>
                <a:cs typeface="Source Sans Pro" pitchFamily="34" charset="-120"/>
              </a:rPr>
              <a:t> EEPROM storage for WiFi </a:t>
            </a:r>
            <a:r>
              <a:rPr lang="en-US" sz="1050" dirty="0">
                <a:solidFill>
                  <a:srgbClr val="455A64"/>
                </a:solidFill>
                <a:latin typeface="Source Sans Pro" pitchFamily="34" charset="0"/>
                <a:ea typeface="Source Sans Pro" pitchFamily="34" charset="-122"/>
                <a:cs typeface="Source Sans Pro" pitchFamily="34" charset="-120"/>
              </a:rPr>
              <a:t>credentials and device state.</a:t>
            </a:r>
            <a:endParaRPr lang="en-US" sz="1000" dirty="0"/>
          </a:p>
        </p:txBody>
      </p:sp>
      <p:sp>
        <p:nvSpPr>
          <p:cNvPr id="12" name="Text 8"/>
          <p:cNvSpPr/>
          <p:nvPr/>
        </p:nvSpPr>
        <p:spPr>
          <a:xfrm>
            <a:off x="3476272" y="2321719"/>
            <a:ext cx="5238099" cy="250031"/>
          </a:xfrm>
          <a:prstGeom prst="rect">
            <a:avLst/>
          </a:prstGeom>
          <a:noFill/>
          <a:ln/>
        </p:spPr>
        <p:txBody>
          <a:bodyPr wrap="square" lIns="127508"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Remote Sync Protocol</a:t>
            </a:r>
            <a:endParaRPr lang="en-US" sz="1500" dirty="0"/>
          </a:p>
        </p:txBody>
      </p:sp>
      <p:sp>
        <p:nvSpPr>
          <p:cNvPr id="13" name="Shape 9"/>
          <p:cNvSpPr/>
          <p:nvPr/>
        </p:nvSpPr>
        <p:spPr>
          <a:xfrm>
            <a:off x="3476272" y="2750344"/>
            <a:ext cx="5238099" cy="1003697"/>
          </a:xfrm>
          <a:prstGeom prst="rect">
            <a:avLst/>
          </a:prstGeom>
          <a:solidFill>
            <a:srgbClr val="4A148C">
              <a:alpha val="5000"/>
            </a:srgbClr>
          </a:solidFill>
          <a:ln/>
        </p:spPr>
      </p:sp>
      <p:sp>
        <p:nvSpPr>
          <p:cNvPr id="14" name="Shape 10"/>
          <p:cNvSpPr/>
          <p:nvPr/>
        </p:nvSpPr>
        <p:spPr>
          <a:xfrm>
            <a:off x="3476272" y="2750344"/>
            <a:ext cx="5238099" cy="14288"/>
          </a:xfrm>
          <a:prstGeom prst="rect">
            <a:avLst/>
          </a:prstGeom>
          <a:solidFill>
            <a:srgbClr val="4A148C"/>
          </a:solidFill>
          <a:ln/>
        </p:spPr>
      </p:sp>
      <p:sp>
        <p:nvSpPr>
          <p:cNvPr id="15" name="Text 11"/>
          <p:cNvSpPr/>
          <p:nvPr/>
        </p:nvSpPr>
        <p:spPr>
          <a:xfrm>
            <a:off x="3619147" y="2893219"/>
            <a:ext cx="4952349" cy="160734"/>
          </a:xfrm>
          <a:prstGeom prst="rect">
            <a:avLst/>
          </a:prstGeom>
          <a:noFill/>
          <a:ln/>
        </p:spPr>
        <p:txBody>
          <a:bodyPr wrap="square" lIns="0" tIns="0" rIns="0" bIns="0" rtlCol="0" anchor="t">
            <a:spAutoFit/>
          </a:bodyPr>
          <a:lstStyle/>
          <a:p>
            <a:pPr algn="l" indent="0" marL="0">
              <a:buNone/>
            </a:pPr>
            <a:r>
              <a:rPr lang="en-US" sz="900" b="1" dirty="0">
                <a:solidFill>
                  <a:srgbClr val="4A148C"/>
                </a:solidFill>
                <a:latin typeface="Source Sans Pro" pitchFamily="34" charset="0"/>
                <a:ea typeface="Source Sans Pro" pitchFamily="34" charset="-122"/>
                <a:cs typeface="Source Sans Pro" pitchFamily="34" charset="-120"/>
              </a:rPr>
              <a:t>Bidirectional State Synchronization</a:t>
            </a:r>
            <a:endParaRPr lang="en-US" sz="900" dirty="0"/>
          </a:p>
        </p:txBody>
      </p:sp>
      <p:sp>
        <p:nvSpPr>
          <p:cNvPr id="16" name="Text 12"/>
          <p:cNvSpPr/>
          <p:nvPr/>
        </p:nvSpPr>
        <p:spPr>
          <a:xfrm>
            <a:off x="3619147" y="3161109"/>
            <a:ext cx="2377083" cy="578644"/>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A148C"/>
                </a:solidFill>
                <a:latin typeface="Source Sans Pro" pitchFamily="34" charset="0"/>
                <a:ea typeface="Source Sans Pro" pitchFamily="34" charset="-122"/>
                <a:cs typeface="Source Sans Pro" pitchFamily="34" charset="-120"/>
              </a:rPr>
              <a:t>PULL (Every 500ms):</a:t>
            </a:r>
            <a:r>
              <a:rPr lang="en-US" sz="950" dirty="0">
                <a:solidFill>
                  <a:srgbClr val="455A64"/>
                </a:solidFill>
                <a:latin typeface="Source Sans Pro" pitchFamily="34" charset="0"/>
                <a:ea typeface="Source Sans Pro" pitchFamily="34" charset="-122"/>
                <a:cs typeface="Source Sans Pro" pitchFamily="34" charset="-120"/>
              </a:rPr>
              <a:t>
</a:t>
            </a:r>
            <a:r>
              <a:rPr lang="en-US" sz="950" dirty="0">
                <a:solidFill>
                  <a:srgbClr val="455A64"/>
                </a:solidFill>
                <a:latin typeface="Source Sans Pro" pitchFamily="34" charset="0"/>
                <a:ea typeface="Source Sans Pro" pitchFamily="34" charset="-122"/>
                <a:cs typeface="Source Sans Pro" pitchFamily="34" charset="-120"/>
              </a:rPr>
              <a:t>Device fetches desired state from cloud API </a:t>
            </a:r>
            <a:r>
              <a:rPr lang="en-US" sz="950" dirty="0">
                <a:solidFill>
                  <a:srgbClr val="455A64"/>
                </a:solidFill>
                <a:latin typeface="Source Sans Pro" pitchFamily="34" charset="0"/>
                <a:ea typeface="Source Sans Pro" pitchFamily="34" charset="-122"/>
                <a:cs typeface="Source Sans Pro" pitchFamily="34" charset="-120"/>
              </a:rPr>
              <a:t>and updates local outputs.</a:t>
            </a:r>
            <a:endParaRPr lang="en-US" sz="950" dirty="0"/>
          </a:p>
        </p:txBody>
      </p:sp>
      <p:sp>
        <p:nvSpPr>
          <p:cNvPr id="17" name="Text 13"/>
          <p:cNvSpPr/>
          <p:nvPr/>
        </p:nvSpPr>
        <p:spPr>
          <a:xfrm>
            <a:off x="6194413" y="3161109"/>
            <a:ext cx="2377083" cy="578644"/>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A148C"/>
                </a:solidFill>
                <a:latin typeface="Source Sans Pro" pitchFamily="34" charset="0"/>
                <a:ea typeface="Source Sans Pro" pitchFamily="34" charset="-122"/>
                <a:cs typeface="Source Sans Pro" pitchFamily="34" charset="-120"/>
              </a:rPr>
              <a:t>PUSH (On Change):</a:t>
            </a:r>
            <a:r>
              <a:rPr lang="en-US" sz="950" dirty="0">
                <a:solidFill>
                  <a:srgbClr val="455A64"/>
                </a:solidFill>
                <a:latin typeface="Source Sans Pro" pitchFamily="34" charset="0"/>
                <a:ea typeface="Source Sans Pro" pitchFamily="34" charset="-122"/>
                <a:cs typeface="Source Sans Pro" pitchFamily="34" charset="-120"/>
              </a:rPr>
              <a:t>
</a:t>
            </a:r>
            <a:r>
              <a:rPr lang="en-US" sz="950" dirty="0">
                <a:solidFill>
                  <a:srgbClr val="455A64"/>
                </a:solidFill>
                <a:latin typeface="Source Sans Pro" pitchFamily="34" charset="0"/>
                <a:ea typeface="Source Sans Pro" pitchFamily="34" charset="-122"/>
                <a:cs typeface="Source Sans Pro" pitchFamily="34" charset="-120"/>
              </a:rPr>
              <a:t>Device reports sensor data and local state </a:t>
            </a:r>
            <a:r>
              <a:rPr lang="en-US" sz="950" dirty="0">
                <a:solidFill>
                  <a:srgbClr val="455A64"/>
                </a:solidFill>
                <a:latin typeface="Source Sans Pro" pitchFamily="34" charset="0"/>
                <a:ea typeface="Source Sans Pro" pitchFamily="34" charset="-122"/>
                <a:cs typeface="Source Sans Pro" pitchFamily="34" charset="-120"/>
              </a:rPr>
              <a:t>changes to the server (min 200ms).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64931"/>
          </a:xfrm>
          <a:prstGeom prst="rect">
            <a:avLst/>
          </a:prstGeom>
        </p:spPr>
      </p:pic>
      <p:sp>
        <p:nvSpPr>
          <p:cNvPr id="4" name="Shape 0"/>
          <p:cNvSpPr/>
          <p:nvPr/>
        </p:nvSpPr>
        <p:spPr>
          <a:xfrm>
            <a:off x="0" y="0"/>
            <a:ext cx="3047647" cy="5164931"/>
          </a:xfrm>
          <a:prstGeom prst="rect">
            <a:avLst/>
          </a:prstGeom>
          <a:solidFill>
            <a:srgbClr val="000000">
              <a:alpha val="0"/>
            </a:srgbClr>
          </a:solidFill>
          <a:ln/>
        </p:spPr>
      </p:sp>
      <p:sp>
        <p:nvSpPr>
          <p:cNvPr id="5" name="Shape 1"/>
          <p:cNvSpPr/>
          <p:nvPr/>
        </p:nvSpPr>
        <p:spPr>
          <a:xfrm>
            <a:off x="3026215" y="0"/>
            <a:ext cx="21431" cy="5164931"/>
          </a:xfrm>
          <a:prstGeom prst="rect">
            <a:avLst/>
          </a:prstGeom>
          <a:solidFill>
            <a:srgbClr val="4A148C"/>
          </a:solidFill>
          <a:ln/>
        </p:spPr>
      </p:sp>
      <p:sp>
        <p:nvSpPr>
          <p:cNvPr id="6" name="Text 2"/>
          <p:cNvSpPr/>
          <p:nvPr/>
        </p:nvSpPr>
        <p:spPr>
          <a:xfrm>
            <a:off x="428625" y="571500"/>
            <a:ext cx="2619022" cy="1337277"/>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Python</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Control</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Layer</a:t>
            </a:r>
            <a:endParaRPr lang="en-US" sz="2650" dirty="0"/>
          </a:p>
        </p:txBody>
      </p:sp>
      <p:sp>
        <p:nvSpPr>
          <p:cNvPr id="7" name="Text 3"/>
          <p:cNvSpPr/>
          <p:nvPr/>
        </p:nvSpPr>
        <p:spPr>
          <a:xfrm>
            <a:off x="3476272" y="571500"/>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OOP Orchestration &amp; Abstraction</a:t>
            </a:r>
            <a:endParaRPr lang="en-US" sz="1500" dirty="0"/>
          </a:p>
        </p:txBody>
      </p:sp>
      <p:sp>
        <p:nvSpPr>
          <p:cNvPr id="8" name="Text 4"/>
          <p:cNvSpPr/>
          <p:nvPr/>
        </p:nvSpPr>
        <p:spPr>
          <a:xfrm>
            <a:off x="3626290" y="1035844"/>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First-Class Objects:</a:t>
            </a:r>
            <a:r>
              <a:rPr lang="en-US" sz="1150" dirty="0">
                <a:solidFill>
                  <a:srgbClr val="455A64"/>
                </a:solidFill>
                <a:latin typeface="Source Sans Pro" pitchFamily="34" charset="0"/>
                <a:ea typeface="Source Sans Pro" pitchFamily="34" charset="-122"/>
                <a:cs typeface="Source Sans Pro" pitchFamily="34" charset="-120"/>
              </a:rPr>
              <a:t> Physical blocks are elevated to Python objects, hiding HTTP </a:t>
            </a:r>
            <a:r>
              <a:rPr lang="en-US" sz="1150" dirty="0">
                <a:solidFill>
                  <a:srgbClr val="455A64"/>
                </a:solidFill>
                <a:latin typeface="Source Sans Pro" pitchFamily="34" charset="0"/>
                <a:ea typeface="Source Sans Pro" pitchFamily="34" charset="-122"/>
                <a:cs typeface="Source Sans Pro" pitchFamily="34" charset="-120"/>
              </a:rPr>
              <a:t>complexity.</a:t>
            </a:r>
            <a:endParaRPr lang="en-US" sz="1100" dirty="0"/>
          </a:p>
        </p:txBody>
      </p:sp>
      <p:sp>
        <p:nvSpPr>
          <p:cNvPr id="9" name="Text 5"/>
          <p:cNvSpPr/>
          <p:nvPr/>
        </p:nvSpPr>
        <p:spPr>
          <a:xfrm>
            <a:off x="3626290" y="1571625"/>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Deduplication:</a:t>
            </a:r>
            <a:r>
              <a:rPr lang="en-US" sz="1150" dirty="0">
                <a:solidFill>
                  <a:srgbClr val="455A64"/>
                </a:solidFill>
                <a:latin typeface="Source Sans Pro" pitchFamily="34" charset="0"/>
                <a:ea typeface="Source Sans Pro" pitchFamily="34" charset="-122"/>
                <a:cs typeface="Source Sans Pro" pitchFamily="34" charset="-120"/>
              </a:rPr>
              <a:t> State-aware logic avoids redundant network calls to the </a:t>
            </a:r>
            <a:r>
              <a:rPr lang="en-US" sz="1150" dirty="0">
                <a:solidFill>
                  <a:srgbClr val="455A64"/>
                </a:solidFill>
                <a:latin typeface="Source Sans Pro" pitchFamily="34" charset="0"/>
                <a:ea typeface="Source Sans Pro" pitchFamily="34" charset="-122"/>
                <a:cs typeface="Source Sans Pro" pitchFamily="34" charset="-120"/>
              </a:rPr>
              <a:t>hardware.</a:t>
            </a:r>
            <a:endParaRPr lang="en-US" sz="1100" dirty="0"/>
          </a:p>
        </p:txBody>
      </p:sp>
      <p:sp>
        <p:nvSpPr>
          <p:cNvPr id="10" name="Text 6"/>
          <p:cNvSpPr/>
          <p:nvPr/>
        </p:nvSpPr>
        <p:spPr>
          <a:xfrm>
            <a:off x="3626290" y="2107406"/>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Parallel Discovery:</a:t>
            </a:r>
            <a:r>
              <a:rPr lang="en-US" sz="1150" dirty="0">
                <a:solidFill>
                  <a:srgbClr val="455A64"/>
                </a:solidFill>
                <a:latin typeface="Source Sans Pro" pitchFamily="34" charset="0"/>
                <a:ea typeface="Source Sans Pro" pitchFamily="34" charset="-122"/>
                <a:cs typeface="Source Sans Pro" pitchFamily="34" charset="-120"/>
              </a:rPr>
              <a:t> Scans 255 mDNS hosts in &lt;3s using multi-threaded </a:t>
            </a:r>
            <a:r>
              <a:rPr lang="en-US" sz="1150" dirty="0">
                <a:solidFill>
                  <a:srgbClr val="455A64"/>
                </a:solidFill>
                <a:latin typeface="Source Sans Pro" pitchFamily="34" charset="0"/>
                <a:ea typeface="Source Sans Pro" pitchFamily="34" charset="-122"/>
                <a:cs typeface="Source Sans Pro" pitchFamily="34" charset="-120"/>
              </a:rPr>
              <a:t>execution.</a:t>
            </a:r>
            <a:endParaRPr lang="en-US" sz="1100" dirty="0"/>
          </a:p>
        </p:txBody>
      </p:sp>
      <p:sp>
        <p:nvSpPr>
          <p:cNvPr id="11" name="Shape 7"/>
          <p:cNvSpPr/>
          <p:nvPr/>
        </p:nvSpPr>
        <p:spPr>
          <a:xfrm>
            <a:off x="3476272" y="2786063"/>
            <a:ext cx="5238099" cy="2378869"/>
          </a:xfrm>
          <a:prstGeom prst="rect">
            <a:avLst/>
          </a:prstGeom>
          <a:solidFill>
            <a:srgbClr val="263238"/>
          </a:solidFill>
          <a:ln/>
        </p:spPr>
      </p:sp>
      <p:sp>
        <p:nvSpPr>
          <p:cNvPr id="12" name="Text 8"/>
          <p:cNvSpPr/>
          <p:nvPr/>
        </p:nvSpPr>
        <p:spPr>
          <a:xfrm>
            <a:off x="3690584" y="3000375"/>
            <a:ext cx="4809474" cy="128588"/>
          </a:xfrm>
          <a:prstGeom prst="rect">
            <a:avLst/>
          </a:prstGeom>
          <a:noFill/>
          <a:ln/>
        </p:spPr>
        <p:txBody>
          <a:bodyPr wrap="square" lIns="0" tIns="0" rIns="0" bIns="0" rtlCol="0" anchor="t">
            <a:spAutoFit/>
          </a:bodyPr>
          <a:lstStyle/>
          <a:p>
            <a:pPr algn="l" indent="0" marL="0">
              <a:buNone/>
            </a:pPr>
            <a:r>
              <a:rPr lang="en-US" sz="700" b="1" spc="1" kern="0" dirty="0">
                <a:solidFill>
                  <a:srgbClr val="F9A825"/>
                </a:solidFill>
                <a:latin typeface="Source Sans Pro" pitchFamily="34" charset="0"/>
                <a:ea typeface="Source Sans Pro" pitchFamily="34" charset="-122"/>
                <a:cs typeface="Source Sans Pro" pitchFamily="34" charset="-120"/>
              </a:rPr>
              <a:t>DECLARATIVE AUTOMATION LOGIC</a:t>
            </a:r>
            <a:endParaRPr lang="en-US" sz="700" dirty="0"/>
          </a:p>
        </p:txBody>
      </p:sp>
      <p:sp>
        <p:nvSpPr>
          <p:cNvPr id="13" name="Text 9"/>
          <p:cNvSpPr/>
          <p:nvPr/>
        </p:nvSpPr>
        <p:spPr>
          <a:xfrm>
            <a:off x="3690584" y="3236119"/>
            <a:ext cx="4809474" cy="1928813"/>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F9A825"/>
                </a:solidFill>
                <a:latin typeface="Fira Code" pitchFamily="34" charset="0"/>
                <a:ea typeface="Fira Code" pitchFamily="34" charset="-122"/>
                <a:cs typeface="Fira Code" pitchFamily="34" charset="-120"/>
              </a:rPr>
              <a:t>from</a:t>
            </a:r>
            <a:r>
              <a:rPr lang="en-US" sz="1050" dirty="0">
                <a:solidFill>
                  <a:srgbClr val="E0F2F1"/>
                </a:solidFill>
                <a:latin typeface="Fira Code" pitchFamily="34" charset="0"/>
                <a:ea typeface="Fira Code" pitchFamily="34" charset="-122"/>
                <a:cs typeface="Fira Code" pitchFamily="34" charset="-120"/>
              </a:rPr>
              <a:t> blocks </a:t>
            </a:r>
            <a:r>
              <a:rPr lang="en-US" sz="1050" dirty="0">
                <a:solidFill>
                  <a:srgbClr val="F9A825"/>
                </a:solidFill>
                <a:latin typeface="Fira Code" pitchFamily="34" charset="0"/>
                <a:ea typeface="Fira Code" pitchFamily="34" charset="-122"/>
                <a:cs typeface="Fira Code" pitchFamily="34" charset="-120"/>
              </a:rPr>
              <a:t>import</a:t>
            </a:r>
            <a:r>
              <a:rPr lang="en-US" sz="1050" dirty="0">
                <a:solidFill>
                  <a:srgbClr val="E0F2F1"/>
                </a:solidFill>
                <a:latin typeface="Fira Code" pitchFamily="34" charset="0"/>
                <a:ea typeface="Fira Code" pitchFamily="34" charset="-122"/>
                <a:cs typeface="Fira Code" pitchFamily="34" charset="-120"/>
              </a:rPr>
              <a:t> LED, Button
</a:t>
            </a:r>
            <a:r>
              <a:rPr lang="en-US" sz="1050" dirty="0">
                <a:solidFill>
                  <a:srgbClr val="E0F2F1"/>
                </a:solidFill>
                <a:latin typeface="Fira Code" pitchFamily="34" charset="0"/>
                <a:ea typeface="Fira Code" pitchFamily="34" charset="-122"/>
                <a:cs typeface="Fira Code" pitchFamily="34" charset="-120"/>
              </a:rPr>
              <a:t>
</a:t>
            </a:r>
            <a:r>
              <a:rPr lang="en-US" sz="1050" dirty="0">
                <a:solidFill>
                  <a:srgbClr val="E0F2F1"/>
                </a:solidFill>
                <a:latin typeface="Fira Code" pitchFamily="34" charset="0"/>
                <a:ea typeface="Fira Code" pitchFamily="34" charset="-122"/>
                <a:cs typeface="Fira Code" pitchFamily="34" charset="-120"/>
              </a:rPr>
              <a:t>button = Button(</a:t>
            </a:r>
            <a:r>
              <a:rPr lang="en-US" sz="1050" dirty="0">
                <a:solidFill>
                  <a:srgbClr val="80CBC4"/>
                </a:solidFill>
                <a:latin typeface="Fira Code" pitchFamily="34" charset="0"/>
                <a:ea typeface="Fira Code" pitchFamily="34" charset="-122"/>
                <a:cs typeface="Fira Code" pitchFamily="34" charset="-120"/>
              </a:rPr>
              <a:t>"IoT-Block-001"</a:t>
            </a:r>
            <a:r>
              <a:rPr lang="en-US" sz="1050" dirty="0">
                <a:solidFill>
                  <a:srgbClr val="E0F2F1"/>
                </a:solidFill>
                <a:latin typeface="Fira Code" pitchFamily="34" charset="0"/>
                <a:ea typeface="Fira Code" pitchFamily="34" charset="-122"/>
                <a:cs typeface="Fira Code" pitchFamily="34" charset="-120"/>
              </a:rPr>
              <a:t>)
</a:t>
            </a:r>
            <a:r>
              <a:rPr lang="en-US" sz="1050" dirty="0">
                <a:solidFill>
                  <a:srgbClr val="E0F2F1"/>
                </a:solidFill>
                <a:latin typeface="Fira Code" pitchFamily="34" charset="0"/>
                <a:ea typeface="Fira Code" pitchFamily="34" charset="-122"/>
                <a:cs typeface="Fira Code" pitchFamily="34" charset="-120"/>
              </a:rPr>
              <a:t>led = LED(</a:t>
            </a:r>
            <a:r>
              <a:rPr lang="en-US" sz="1050" dirty="0">
                <a:solidFill>
                  <a:srgbClr val="80CBC4"/>
                </a:solidFill>
                <a:latin typeface="Fira Code" pitchFamily="34" charset="0"/>
                <a:ea typeface="Fira Code" pitchFamily="34" charset="-122"/>
                <a:cs typeface="Fira Code" pitchFamily="34" charset="-120"/>
              </a:rPr>
              <a:t>"IoT-Block-002"</a:t>
            </a:r>
            <a:r>
              <a:rPr lang="en-US" sz="1050" dirty="0">
                <a:solidFill>
                  <a:srgbClr val="E0F2F1"/>
                </a:solidFill>
                <a:latin typeface="Fira Code" pitchFamily="34" charset="0"/>
                <a:ea typeface="Fira Code" pitchFamily="34" charset="-122"/>
                <a:cs typeface="Fira Code" pitchFamily="34" charset="-120"/>
              </a:rPr>
              <a:t>)
</a:t>
            </a:r>
            <a:r>
              <a:rPr lang="en-US" sz="1050" dirty="0">
                <a:solidFill>
                  <a:srgbClr val="E0F2F1"/>
                </a:solidFill>
                <a:latin typeface="Fira Code" pitchFamily="34" charset="0"/>
                <a:ea typeface="Fira Code" pitchFamily="34" charset="-122"/>
                <a:cs typeface="Fira Code" pitchFamily="34" charset="-120"/>
              </a:rPr>
              <a:t>
</a:t>
            </a:r>
            <a:r>
              <a:rPr lang="en-US" sz="1050" dirty="0">
                <a:solidFill>
                  <a:srgbClr val="F9A825"/>
                </a:solidFill>
                <a:latin typeface="Fira Code" pitchFamily="34" charset="0"/>
                <a:ea typeface="Fira Code" pitchFamily="34" charset="-122"/>
                <a:cs typeface="Fira Code" pitchFamily="34" charset="-120"/>
              </a:rPr>
              <a:t>if</a:t>
            </a:r>
            <a:r>
              <a:rPr lang="en-US" sz="1050" dirty="0">
                <a:solidFill>
                  <a:srgbClr val="E0F2F1"/>
                </a:solidFill>
                <a:latin typeface="Fira Code" pitchFamily="34" charset="0"/>
                <a:ea typeface="Fira Code" pitchFamily="34" charset="-122"/>
                <a:cs typeface="Fira Code" pitchFamily="34" charset="-120"/>
              </a:rPr>
              <a:t> button.state:
</a:t>
            </a:r>
            <a:r>
              <a:rPr lang="en-US" sz="1050" dirty="0">
                <a:solidFill>
                  <a:srgbClr val="E0F2F1"/>
                </a:solidFill>
                <a:latin typeface="Fira Code" pitchFamily="34" charset="0"/>
                <a:ea typeface="Fira Code" pitchFamily="34" charset="-122"/>
                <a:cs typeface="Fira Code" pitchFamily="34" charset="-120"/>
              </a:rPr>
              <a:t>    led.on()  </a:t>
            </a:r>
            <a:r>
              <a:rPr lang="en-US" sz="1050" dirty="0">
                <a:solidFill>
                  <a:srgbClr val="90A4AE"/>
                </a:solidFill>
                <a:latin typeface="Fira Code" pitchFamily="34" charset="0"/>
                <a:ea typeface="Fira Code" pitchFamily="34" charset="-122"/>
                <a:cs typeface="Fira Code" pitchFamily="34" charset="-120"/>
              </a:rPr>
              <a:t># HTTP POST /api/io/set</a:t>
            </a:r>
            <a:r>
              <a:rPr lang="en-US" sz="1050" dirty="0">
                <a:solidFill>
                  <a:srgbClr val="E0F2F1"/>
                </a:solidFill>
                <a:latin typeface="Fira Code" pitchFamily="34" charset="0"/>
                <a:ea typeface="Fira Code" pitchFamily="34" charset="-122"/>
                <a:cs typeface="Fira Code" pitchFamily="34" charset="-120"/>
              </a:rPr>
              <a:t>
</a:t>
            </a:r>
            <a:r>
              <a:rPr lang="en-US" sz="1050" dirty="0">
                <a:solidFill>
                  <a:srgbClr val="F9A825"/>
                </a:solidFill>
                <a:latin typeface="Fira Code" pitchFamily="34" charset="0"/>
                <a:ea typeface="Fira Code" pitchFamily="34" charset="-122"/>
                <a:cs typeface="Fira Code" pitchFamily="34" charset="-120"/>
              </a:rPr>
              <a:t>else</a:t>
            </a:r>
            <a:r>
              <a:rPr lang="en-US" sz="1050" dirty="0">
                <a:solidFill>
                  <a:srgbClr val="E0F2F1"/>
                </a:solidFill>
                <a:latin typeface="Fira Code" pitchFamily="34" charset="0"/>
                <a:ea typeface="Fira Code" pitchFamily="34" charset="-122"/>
                <a:cs typeface="Fira Code" pitchFamily="34" charset="-120"/>
              </a:rPr>
              <a:t>:
</a:t>
            </a:r>
            <a:r>
              <a:rPr lang="en-US" sz="1050" dirty="0">
                <a:solidFill>
                  <a:srgbClr val="E0F2F1"/>
                </a:solidFill>
                <a:latin typeface="Fira Code" pitchFamily="34" charset="0"/>
                <a:ea typeface="Fira Code" pitchFamily="34" charset="-122"/>
                <a:cs typeface="Fira Code" pitchFamily="34" charset="-120"/>
              </a:rPr>
              <a:t>    led.off()</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571500"/>
            <a:ext cx="2619022" cy="1337277"/>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DeepSeek</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Agentic</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Chatbot</a:t>
            </a:r>
            <a:endParaRPr lang="en-US" sz="2650" dirty="0"/>
          </a:p>
        </p:txBody>
      </p:sp>
      <p:sp>
        <p:nvSpPr>
          <p:cNvPr id="7" name="Shape 3"/>
          <p:cNvSpPr/>
          <p:nvPr/>
        </p:nvSpPr>
        <p:spPr>
          <a:xfrm>
            <a:off x="3476272" y="571500"/>
            <a:ext cx="1950244" cy="214313"/>
          </a:xfrm>
          <a:prstGeom prst="rect">
            <a:avLst/>
          </a:prstGeom>
          <a:solidFill>
            <a:srgbClr val="263238"/>
          </a:solidFill>
          <a:ln/>
        </p:spPr>
      </p:sp>
      <p:sp>
        <p:nvSpPr>
          <p:cNvPr id="8" name="Text 4"/>
          <p:cNvSpPr/>
          <p:nvPr/>
        </p:nvSpPr>
        <p:spPr>
          <a:xfrm>
            <a:off x="3476272" y="571500"/>
            <a:ext cx="1950244" cy="214313"/>
          </a:xfrm>
          <a:prstGeom prst="rect">
            <a:avLst/>
          </a:prstGeom>
          <a:noFill/>
          <a:ln/>
        </p:spPr>
        <p:txBody>
          <a:bodyPr wrap="square" lIns="127508" tIns="42545" rIns="127508" bIns="42545" rtlCol="0" anchor="t">
            <a:spAutoFit/>
          </a:bodyPr>
          <a:lstStyle/>
          <a:p>
            <a:pPr algn="l" indent="0" marL="0">
              <a:buNone/>
            </a:pPr>
            <a:r>
              <a:rPr lang="en-US" sz="850" dirty="0">
                <a:solidFill>
                  <a:srgbClr val="FFFFFF"/>
                </a:solidFill>
                <a:latin typeface="Source Sans Pro" pitchFamily="34" charset="0"/>
                <a:ea typeface="Source Sans Pro" pitchFamily="34" charset="-122"/>
                <a:cs typeface="Source Sans Pro" pitchFamily="34" charset="-120"/>
              </a:rPr>
              <a:t>Engine: DeepSeek-V3 (128K Context)</a:t>
            </a:r>
            <a:endParaRPr lang="en-US" sz="850" dirty="0"/>
          </a:p>
        </p:txBody>
      </p:sp>
      <p:sp>
        <p:nvSpPr>
          <p:cNvPr id="9" name="Text 5"/>
          <p:cNvSpPr/>
          <p:nvPr/>
        </p:nvSpPr>
        <p:spPr>
          <a:xfrm>
            <a:off x="3476272" y="928688"/>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Translating Intent into Action</a:t>
            </a:r>
            <a:endParaRPr lang="en-US" sz="1500" dirty="0"/>
          </a:p>
        </p:txBody>
      </p:sp>
      <p:sp>
        <p:nvSpPr>
          <p:cNvPr id="10" name="Text 6"/>
          <p:cNvSpPr/>
          <p:nvPr/>
        </p:nvSpPr>
        <p:spPr>
          <a:xfrm>
            <a:off x="3626290" y="1393031"/>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Autonomous Synthesis:</a:t>
            </a:r>
            <a:r>
              <a:rPr lang="en-US" sz="1150" dirty="0">
                <a:solidFill>
                  <a:srgbClr val="455A64"/>
                </a:solidFill>
                <a:latin typeface="Source Sans Pro" pitchFamily="34" charset="0"/>
                <a:ea typeface="Source Sans Pro" pitchFamily="34" charset="-122"/>
                <a:cs typeface="Source Sans Pro" pitchFamily="34" charset="-120"/>
              </a:rPr>
              <a:t> Translates natural language prompts into executable </a:t>
            </a:r>
            <a:r>
              <a:rPr lang="en-US" sz="1150" dirty="0">
                <a:solidFill>
                  <a:srgbClr val="455A64"/>
                </a:solidFill>
                <a:latin typeface="Source Sans Pro" pitchFamily="34" charset="0"/>
                <a:ea typeface="Source Sans Pro" pitchFamily="34" charset="-122"/>
                <a:cs typeface="Source Sans Pro" pitchFamily="34" charset="-120"/>
              </a:rPr>
              <a:t>Python automation scripts.</a:t>
            </a:r>
            <a:endParaRPr lang="en-US" sz="1100" dirty="0"/>
          </a:p>
        </p:txBody>
      </p:sp>
      <p:sp>
        <p:nvSpPr>
          <p:cNvPr id="11" name="Text 7"/>
          <p:cNvSpPr/>
          <p:nvPr/>
        </p:nvSpPr>
        <p:spPr>
          <a:xfrm>
            <a:off x="3626290" y="1928813"/>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Bidirectional Sync:</a:t>
            </a:r>
            <a:r>
              <a:rPr lang="en-US" sz="1150" dirty="0">
                <a:solidFill>
                  <a:srgbClr val="455A64"/>
                </a:solidFill>
                <a:latin typeface="Source Sans Pro" pitchFamily="34" charset="0"/>
                <a:ea typeface="Source Sans Pro" pitchFamily="34" charset="-122"/>
                <a:cs typeface="Source Sans Pro" pitchFamily="34" charset="-120"/>
              </a:rPr>
              <a:t> Automatically updates visual flow diagrams based on </a:t>
            </a:r>
            <a:r>
              <a:rPr lang="en-US" sz="1150" dirty="0">
                <a:solidFill>
                  <a:srgbClr val="455A64"/>
                </a:solidFill>
                <a:latin typeface="Source Sans Pro" pitchFamily="34" charset="0"/>
                <a:ea typeface="Source Sans Pro" pitchFamily="34" charset="-122"/>
                <a:cs typeface="Source Sans Pro" pitchFamily="34" charset="-120"/>
              </a:rPr>
              <a:t>generated script logic.</a:t>
            </a:r>
            <a:endParaRPr lang="en-US" sz="1100" dirty="0"/>
          </a:p>
        </p:txBody>
      </p:sp>
      <p:sp>
        <p:nvSpPr>
          <p:cNvPr id="12" name="Text 8"/>
          <p:cNvSpPr/>
          <p:nvPr/>
        </p:nvSpPr>
        <p:spPr>
          <a:xfrm>
            <a:off x="3626290" y="2464594"/>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Tool-Calling:</a:t>
            </a:r>
            <a:r>
              <a:rPr lang="en-US" sz="1150" dirty="0">
                <a:solidFill>
                  <a:srgbClr val="455A64"/>
                </a:solidFill>
                <a:latin typeface="Source Sans Pro" pitchFamily="34" charset="0"/>
                <a:ea typeface="Source Sans Pro" pitchFamily="34" charset="-122"/>
                <a:cs typeface="Source Sans Pro" pitchFamily="34" charset="-120"/>
              </a:rPr>
              <a:t> Directly interacts with physical hardware I/O for real-time state </a:t>
            </a:r>
            <a:r>
              <a:rPr lang="en-US" sz="1150" dirty="0">
                <a:solidFill>
                  <a:srgbClr val="455A64"/>
                </a:solidFill>
                <a:latin typeface="Source Sans Pro" pitchFamily="34" charset="0"/>
                <a:ea typeface="Source Sans Pro" pitchFamily="34" charset="-122"/>
                <a:cs typeface="Source Sans Pro" pitchFamily="34" charset="-120"/>
              </a:rPr>
              <a:t>discovery and control.</a:t>
            </a:r>
            <a:endParaRPr lang="en-US" sz="1100" dirty="0"/>
          </a:p>
        </p:txBody>
      </p:sp>
      <p:sp>
        <p:nvSpPr>
          <p:cNvPr id="13" name="Shape 9"/>
          <p:cNvSpPr/>
          <p:nvPr/>
        </p:nvSpPr>
        <p:spPr>
          <a:xfrm>
            <a:off x="3476272" y="3143250"/>
            <a:ext cx="5238099" cy="1557338"/>
          </a:xfrm>
          <a:prstGeom prst="rect">
            <a:avLst/>
          </a:prstGeom>
          <a:solidFill>
            <a:srgbClr val="4A148C">
              <a:alpha val="5000"/>
            </a:srgbClr>
          </a:solidFill>
          <a:ln/>
        </p:spPr>
      </p:sp>
      <p:sp>
        <p:nvSpPr>
          <p:cNvPr id="14" name="Shape 10"/>
          <p:cNvSpPr/>
          <p:nvPr/>
        </p:nvSpPr>
        <p:spPr>
          <a:xfrm>
            <a:off x="3476272" y="3143250"/>
            <a:ext cx="5238099" cy="21431"/>
          </a:xfrm>
          <a:prstGeom prst="rect">
            <a:avLst/>
          </a:prstGeom>
          <a:solidFill>
            <a:srgbClr val="4A148C"/>
          </a:solidFill>
          <a:ln/>
        </p:spPr>
      </p:sp>
      <p:sp>
        <p:nvSpPr>
          <p:cNvPr id="15" name="Text 11"/>
          <p:cNvSpPr/>
          <p:nvPr/>
        </p:nvSpPr>
        <p:spPr>
          <a:xfrm>
            <a:off x="3690584" y="3321844"/>
            <a:ext cx="4809474" cy="178594"/>
          </a:xfrm>
          <a:prstGeom prst="rect">
            <a:avLst/>
          </a:prstGeom>
          <a:noFill/>
          <a:ln/>
        </p:spPr>
        <p:txBody>
          <a:bodyPr wrap="square" lIns="0" tIns="0" rIns="0" bIns="0" rtlCol="0" anchor="t">
            <a:spAutoFit/>
          </a:bodyPr>
          <a:lstStyle/>
          <a:p>
            <a:pPr algn="l" indent="0" marL="0">
              <a:buNone/>
            </a:pPr>
            <a:r>
              <a:rPr lang="en-US" sz="1000" b="1" spc="1" kern="0" dirty="0">
                <a:solidFill>
                  <a:srgbClr val="4A148C"/>
                </a:solidFill>
                <a:latin typeface="Source Sans Pro" pitchFamily="34" charset="0"/>
                <a:ea typeface="Source Sans Pro" pitchFamily="34" charset="-122"/>
                <a:cs typeface="Source Sans Pro" pitchFamily="34" charset="-120"/>
              </a:rPr>
              <a:t>SAFETY &amp; EXECUTION CONSTRAINTS</a:t>
            </a:r>
            <a:endParaRPr lang="en-US" sz="1000" dirty="0"/>
          </a:p>
        </p:txBody>
      </p:sp>
      <p:sp>
        <p:nvSpPr>
          <p:cNvPr id="16" name="Text 12"/>
          <p:cNvSpPr/>
          <p:nvPr/>
        </p:nvSpPr>
        <p:spPr>
          <a:xfrm>
            <a:off x="3840603" y="3607594"/>
            <a:ext cx="3929063" cy="196453"/>
          </a:xfrm>
          <a:prstGeom prst="rect">
            <a:avLst/>
          </a:prstGeom>
          <a:noFill/>
          <a:ln/>
        </p:spPr>
        <p:txBody>
          <a:bodyPr wrap="square" lIns="0" tIns="0" rIns="0" bIns="0" rtlCol="0" anchor="t">
            <a:spAutoFit/>
          </a:bodyPr>
          <a:lstStyle/>
          <a:p>
            <a:pPr algn="l" indent="0" marL="0">
              <a:buNone/>
            </a:pPr>
            <a:r>
              <a:rPr lang="en-US" sz="1150" dirty="0">
                <a:solidFill>
                  <a:srgbClr val="455A64"/>
                </a:solidFill>
                <a:latin typeface="Source Sans Pro" pitchFamily="34" charset="0"/>
                <a:ea typeface="Source Sans Pro" pitchFamily="34" charset="-122"/>
                <a:cs typeface="Source Sans Pro" pitchFamily="34" charset="-120"/>
              </a:rPr>
              <a:t>Sandboxed execution environment for all AI-generated scripts.</a:t>
            </a:r>
            <a:endParaRPr lang="en-US" sz="1150" dirty="0"/>
          </a:p>
        </p:txBody>
      </p:sp>
      <p:sp>
        <p:nvSpPr>
          <p:cNvPr id="17" name="Text 13"/>
          <p:cNvSpPr/>
          <p:nvPr/>
        </p:nvSpPr>
        <p:spPr>
          <a:xfrm>
            <a:off x="3840603" y="3946922"/>
            <a:ext cx="4582716" cy="196453"/>
          </a:xfrm>
          <a:prstGeom prst="rect">
            <a:avLst/>
          </a:prstGeom>
          <a:noFill/>
          <a:ln/>
        </p:spPr>
        <p:txBody>
          <a:bodyPr wrap="square" lIns="0" tIns="0" rIns="0" bIns="0" rtlCol="0" anchor="t">
            <a:spAutoFit/>
          </a:bodyPr>
          <a:lstStyle/>
          <a:p>
            <a:pPr algn="l" indent="0" marL="0">
              <a:buNone/>
            </a:pPr>
            <a:r>
              <a:rPr lang="en-US" sz="1150" dirty="0">
                <a:solidFill>
                  <a:srgbClr val="455A64"/>
                </a:solidFill>
                <a:latin typeface="Source Sans Pro" pitchFamily="34" charset="0"/>
                <a:ea typeface="Source Sans Pro" pitchFamily="34" charset="-122"/>
                <a:cs typeface="Source Sans Pro" pitchFamily="34" charset="-120"/>
              </a:rPr>
              <a:t>Schema-validated tool outputs to prevent hardware command injection.</a:t>
            </a:r>
            <a:endParaRPr lang="en-US" sz="1150" dirty="0"/>
          </a:p>
        </p:txBody>
      </p:sp>
      <p:sp>
        <p:nvSpPr>
          <p:cNvPr id="18" name="Text 14"/>
          <p:cNvSpPr/>
          <p:nvPr/>
        </p:nvSpPr>
        <p:spPr>
          <a:xfrm>
            <a:off x="3840603" y="4286250"/>
            <a:ext cx="4659455" cy="392906"/>
          </a:xfrm>
          <a:prstGeom prst="rect">
            <a:avLst/>
          </a:prstGeom>
          <a:noFill/>
          <a:ln/>
        </p:spPr>
        <p:txBody>
          <a:bodyPr wrap="square" lIns="0" tIns="0" rIns="0" bIns="0" rtlCol="0" anchor="t">
            <a:spAutoFit/>
          </a:bodyPr>
          <a:lstStyle/>
          <a:p>
            <a:pPr algn="l" indent="0" marL="0">
              <a:buNone/>
            </a:pPr>
            <a:r>
              <a:rPr lang="en-US" sz="1150" dirty="0">
                <a:solidFill>
                  <a:srgbClr val="455A64"/>
                </a:solidFill>
                <a:latin typeface="Source Sans Pro" pitchFamily="34" charset="0"/>
                <a:ea typeface="Source Sans Pro" pitchFamily="34" charset="-122"/>
                <a:cs typeface="Source Sans Pro" pitchFamily="34" charset="-120"/>
              </a:rPr>
              <a:t>Mandatory error handling and KeyboardInterrupt termination in all scripts.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36369"/>
          </a:xfrm>
          <a:prstGeom prst="rect">
            <a:avLst/>
          </a:prstGeom>
        </p:spPr>
      </p:pic>
      <p:sp>
        <p:nvSpPr>
          <p:cNvPr id="4" name="Shape 0"/>
          <p:cNvSpPr/>
          <p:nvPr/>
        </p:nvSpPr>
        <p:spPr>
          <a:xfrm>
            <a:off x="0" y="0"/>
            <a:ext cx="3047647" cy="5236369"/>
          </a:xfrm>
          <a:prstGeom prst="rect">
            <a:avLst/>
          </a:prstGeom>
          <a:solidFill>
            <a:srgbClr val="000000">
              <a:alpha val="0"/>
            </a:srgbClr>
          </a:solidFill>
          <a:ln/>
        </p:spPr>
      </p:sp>
      <p:sp>
        <p:nvSpPr>
          <p:cNvPr id="5" name="Shape 1"/>
          <p:cNvSpPr/>
          <p:nvPr/>
        </p:nvSpPr>
        <p:spPr>
          <a:xfrm>
            <a:off x="3026215" y="0"/>
            <a:ext cx="21431" cy="5236369"/>
          </a:xfrm>
          <a:prstGeom prst="rect">
            <a:avLst/>
          </a:prstGeom>
          <a:solidFill>
            <a:srgbClr val="4A148C"/>
          </a:solidFill>
          <a:ln/>
        </p:spPr>
      </p:sp>
      <p:sp>
        <p:nvSpPr>
          <p:cNvPr id="6" name="Text 2"/>
          <p:cNvSpPr/>
          <p:nvPr/>
        </p:nvSpPr>
        <p:spPr>
          <a:xfrm>
            <a:off x="428625" y="571500"/>
            <a:ext cx="2619022" cy="1337277"/>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Web Portal</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&amp; Visual</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Programming</a:t>
            </a:r>
            <a:endParaRPr lang="en-US" sz="2650" dirty="0"/>
          </a:p>
        </p:txBody>
      </p:sp>
      <p:sp>
        <p:nvSpPr>
          <p:cNvPr id="7" name="Shape 3"/>
          <p:cNvSpPr/>
          <p:nvPr/>
        </p:nvSpPr>
        <p:spPr>
          <a:xfrm>
            <a:off x="3476272" y="571500"/>
            <a:ext cx="2053828" cy="214313"/>
          </a:xfrm>
          <a:prstGeom prst="rect">
            <a:avLst/>
          </a:prstGeom>
          <a:solidFill>
            <a:srgbClr val="263238"/>
          </a:solidFill>
          <a:ln/>
        </p:spPr>
      </p:sp>
      <p:sp>
        <p:nvSpPr>
          <p:cNvPr id="8" name="Text 4"/>
          <p:cNvSpPr/>
          <p:nvPr/>
        </p:nvSpPr>
        <p:spPr>
          <a:xfrm>
            <a:off x="3476272" y="571500"/>
            <a:ext cx="2053828" cy="214313"/>
          </a:xfrm>
          <a:prstGeom prst="rect">
            <a:avLst/>
          </a:prstGeom>
          <a:noFill/>
          <a:ln/>
        </p:spPr>
        <p:txBody>
          <a:bodyPr wrap="square" lIns="127508" tIns="42545" rIns="127508" bIns="42545" rtlCol="0" anchor="t">
            <a:spAutoFit/>
          </a:bodyPr>
          <a:lstStyle/>
          <a:p>
            <a:pPr algn="l" indent="0" marL="0">
              <a:buNone/>
            </a:pPr>
            <a:r>
              <a:rPr lang="en-US" sz="850" dirty="0">
                <a:solidFill>
                  <a:srgbClr val="FFFFFF"/>
                </a:solidFill>
                <a:latin typeface="Source Sans Pro" pitchFamily="34" charset="0"/>
                <a:ea typeface="Source Sans Pro" pitchFamily="34" charset="-122"/>
                <a:cs typeface="Source Sans Pro" pitchFamily="34" charset="-120"/>
              </a:rPr>
              <a:t>Stack: React 18 + React Flow + Tailwind</a:t>
            </a:r>
            <a:endParaRPr lang="en-US" sz="850" dirty="0"/>
          </a:p>
        </p:txBody>
      </p:sp>
      <p:sp>
        <p:nvSpPr>
          <p:cNvPr id="9" name="Text 5"/>
          <p:cNvSpPr/>
          <p:nvPr/>
        </p:nvSpPr>
        <p:spPr>
          <a:xfrm>
            <a:off x="3476272" y="928688"/>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Unified Runtime Administration</a:t>
            </a:r>
            <a:endParaRPr lang="en-US" sz="1500" dirty="0"/>
          </a:p>
        </p:txBody>
      </p:sp>
      <p:sp>
        <p:nvSpPr>
          <p:cNvPr id="10" name="Text 6"/>
          <p:cNvSpPr/>
          <p:nvPr/>
        </p:nvSpPr>
        <p:spPr>
          <a:xfrm>
            <a:off x="3626290" y="1393031"/>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Real-Time Monitoring:</a:t>
            </a:r>
            <a:r>
              <a:rPr lang="en-US" sz="1150" dirty="0">
                <a:solidFill>
                  <a:srgbClr val="455A64"/>
                </a:solidFill>
                <a:latin typeface="Source Sans Pro" pitchFamily="34" charset="0"/>
                <a:ea typeface="Source Sans Pro" pitchFamily="34" charset="-122"/>
                <a:cs typeface="Source Sans Pro" pitchFamily="34" charset="-120"/>
              </a:rPr>
              <a:t> Live state management and health tracking of all </a:t>
            </a:r>
            <a:r>
              <a:rPr lang="en-US" sz="1150" dirty="0">
                <a:solidFill>
                  <a:srgbClr val="455A64"/>
                </a:solidFill>
                <a:latin typeface="Source Sans Pro" pitchFamily="34" charset="0"/>
                <a:ea typeface="Source Sans Pro" pitchFamily="34" charset="-122"/>
                <a:cs typeface="Source Sans Pro" pitchFamily="34" charset="-120"/>
              </a:rPr>
              <a:t>discovered hardware blocks.</a:t>
            </a:r>
            <a:endParaRPr lang="en-US" sz="1100" dirty="0"/>
          </a:p>
        </p:txBody>
      </p:sp>
      <p:sp>
        <p:nvSpPr>
          <p:cNvPr id="11" name="Text 7"/>
          <p:cNvSpPr/>
          <p:nvPr/>
        </p:nvSpPr>
        <p:spPr>
          <a:xfrm>
            <a:off x="3626290" y="1928813"/>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Bidirectional Sync:</a:t>
            </a:r>
            <a:r>
              <a:rPr lang="en-US" sz="1150" dirty="0">
                <a:solidFill>
                  <a:srgbClr val="455A64"/>
                </a:solidFill>
                <a:latin typeface="Source Sans Pro" pitchFamily="34" charset="0"/>
                <a:ea typeface="Source Sans Pro" pitchFamily="34" charset="-122"/>
                <a:cs typeface="Source Sans Pro" pitchFamily="34" charset="-120"/>
              </a:rPr>
              <a:t> Changes in the visual graph update the Python script, and </a:t>
            </a:r>
            <a:r>
              <a:rPr lang="en-US" sz="1150" dirty="0">
                <a:solidFill>
                  <a:srgbClr val="455A64"/>
                </a:solidFill>
                <a:latin typeface="Source Sans Pro" pitchFamily="34" charset="0"/>
                <a:ea typeface="Source Sans Pro" pitchFamily="34" charset="-122"/>
                <a:cs typeface="Source Sans Pro" pitchFamily="34" charset="-120"/>
              </a:rPr>
              <a:t>vice versa.</a:t>
            </a:r>
            <a:endParaRPr lang="en-US" sz="1100" dirty="0"/>
          </a:p>
        </p:txBody>
      </p:sp>
      <p:sp>
        <p:nvSpPr>
          <p:cNvPr id="12" name="Text 8"/>
          <p:cNvSpPr/>
          <p:nvPr/>
        </p:nvSpPr>
        <p:spPr>
          <a:xfrm>
            <a:off x="3626290" y="2464594"/>
            <a:ext cx="5088080"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Integrated Chatbot:</a:t>
            </a:r>
            <a:r>
              <a:rPr lang="en-US" sz="1150" dirty="0">
                <a:solidFill>
                  <a:srgbClr val="455A64"/>
                </a:solidFill>
                <a:latin typeface="Source Sans Pro" pitchFamily="34" charset="0"/>
                <a:ea typeface="Source Sans Pro" pitchFamily="34" charset="-122"/>
                <a:cs typeface="Source Sans Pro" pitchFamily="34" charset="-120"/>
              </a:rPr>
              <a:t> Direct access to the DeepSeek agent for rapid prototyping </a:t>
            </a:r>
            <a:r>
              <a:rPr lang="en-US" sz="1150" dirty="0">
                <a:solidFill>
                  <a:srgbClr val="455A64"/>
                </a:solidFill>
                <a:latin typeface="Source Sans Pro" pitchFamily="34" charset="0"/>
                <a:ea typeface="Source Sans Pro" pitchFamily="34" charset="-122"/>
                <a:cs typeface="Source Sans Pro" pitchFamily="34" charset="-120"/>
              </a:rPr>
              <a:t>and script synthesis.</a:t>
            </a:r>
            <a:endParaRPr lang="en-US" sz="1100" dirty="0"/>
          </a:p>
        </p:txBody>
      </p:sp>
      <p:sp>
        <p:nvSpPr>
          <p:cNvPr id="13" name="Shape 9"/>
          <p:cNvSpPr/>
          <p:nvPr/>
        </p:nvSpPr>
        <p:spPr>
          <a:xfrm>
            <a:off x="3476272" y="3143250"/>
            <a:ext cx="5238099" cy="1950244"/>
          </a:xfrm>
          <a:prstGeom prst="rect">
            <a:avLst/>
          </a:prstGeom>
          <a:solidFill>
            <a:srgbClr val="4A148C">
              <a:alpha val="5000"/>
            </a:srgbClr>
          </a:solidFill>
          <a:ln/>
        </p:spPr>
      </p:sp>
      <p:sp>
        <p:nvSpPr>
          <p:cNvPr id="14" name="Shape 10"/>
          <p:cNvSpPr/>
          <p:nvPr/>
        </p:nvSpPr>
        <p:spPr>
          <a:xfrm>
            <a:off x="3476272" y="3143250"/>
            <a:ext cx="5238099" cy="21431"/>
          </a:xfrm>
          <a:prstGeom prst="rect">
            <a:avLst/>
          </a:prstGeom>
          <a:solidFill>
            <a:srgbClr val="4A148C"/>
          </a:solidFill>
          <a:ln/>
        </p:spPr>
      </p:sp>
      <p:sp>
        <p:nvSpPr>
          <p:cNvPr id="15" name="Text 11"/>
          <p:cNvSpPr/>
          <p:nvPr/>
        </p:nvSpPr>
        <p:spPr>
          <a:xfrm>
            <a:off x="3690584" y="3321844"/>
            <a:ext cx="4809474" cy="178594"/>
          </a:xfrm>
          <a:prstGeom prst="rect">
            <a:avLst/>
          </a:prstGeom>
          <a:noFill/>
          <a:ln/>
        </p:spPr>
        <p:txBody>
          <a:bodyPr wrap="square" lIns="0" tIns="0" rIns="0" bIns="0" rtlCol="0" anchor="t">
            <a:spAutoFit/>
          </a:bodyPr>
          <a:lstStyle/>
          <a:p>
            <a:pPr algn="l" indent="0" marL="0">
              <a:buNone/>
            </a:pPr>
            <a:r>
              <a:rPr lang="en-US" sz="1000" b="1" spc="1" kern="0" dirty="0">
                <a:solidFill>
                  <a:srgbClr val="4A148C"/>
                </a:solidFill>
                <a:latin typeface="Source Sans Pro" pitchFamily="34" charset="0"/>
                <a:ea typeface="Source Sans Pro" pitchFamily="34" charset="-122"/>
                <a:cs typeface="Source Sans Pro" pitchFamily="34" charset="-120"/>
              </a:rPr>
              <a:t>VISUAL FLOW BUILDER</a:t>
            </a:r>
            <a:endParaRPr lang="en-US" sz="1000" dirty="0"/>
          </a:p>
        </p:txBody>
      </p:sp>
      <p:sp>
        <p:nvSpPr>
          <p:cNvPr id="16" name="Text 12"/>
          <p:cNvSpPr/>
          <p:nvPr/>
        </p:nvSpPr>
        <p:spPr>
          <a:xfrm>
            <a:off x="3840603" y="3607594"/>
            <a:ext cx="4659455" cy="392906"/>
          </a:xfrm>
          <a:prstGeom prst="rect">
            <a:avLst/>
          </a:prstGeom>
          <a:noFill/>
          <a:ln/>
        </p:spPr>
        <p:txBody>
          <a:bodyPr wrap="square" lIns="0" tIns="0" rIns="0" bIns="0" rtlCol="0" anchor="t">
            <a:spAutoFit/>
          </a:bodyPr>
          <a:lstStyle/>
          <a:p>
            <a:pPr algn="l" indent="0" marL="0">
              <a:buNone/>
            </a:pPr>
            <a:r>
              <a:rPr lang="en-US" sz="1150" dirty="0">
                <a:solidFill>
                  <a:srgbClr val="455A64"/>
                </a:solidFill>
                <a:latin typeface="Source Sans Pro" pitchFamily="34" charset="0"/>
                <a:ea typeface="Source Sans Pro" pitchFamily="34" charset="-122"/>
                <a:cs typeface="Source Sans Pro" pitchFamily="34" charset="-120"/>
              </a:rPr>
              <a:t>Node-edge graph representation of block interactions and automation logic.</a:t>
            </a:r>
            <a:endParaRPr lang="en-US" sz="1150" dirty="0"/>
          </a:p>
        </p:txBody>
      </p:sp>
      <p:sp>
        <p:nvSpPr>
          <p:cNvPr id="17" name="Text 13"/>
          <p:cNvSpPr/>
          <p:nvPr/>
        </p:nvSpPr>
        <p:spPr>
          <a:xfrm>
            <a:off x="3840603" y="4143375"/>
            <a:ext cx="4659455" cy="392906"/>
          </a:xfrm>
          <a:prstGeom prst="rect">
            <a:avLst/>
          </a:prstGeom>
          <a:noFill/>
          <a:ln/>
        </p:spPr>
        <p:txBody>
          <a:bodyPr wrap="square" lIns="0" tIns="0" rIns="0" bIns="0" rtlCol="0" anchor="t">
            <a:spAutoFit/>
          </a:bodyPr>
          <a:lstStyle/>
          <a:p>
            <a:pPr algn="l" indent="0" marL="0">
              <a:buNone/>
            </a:pPr>
            <a:r>
              <a:rPr lang="en-US" sz="1150" dirty="0">
                <a:solidFill>
                  <a:srgbClr val="455A64"/>
                </a:solidFill>
                <a:latin typeface="Source Sans Pro" pitchFamily="34" charset="0"/>
                <a:ea typeface="Source Sans Pro" pitchFamily="34" charset="-122"/>
                <a:cs typeface="Source Sans Pro" pitchFamily="34" charset="-120"/>
              </a:rPr>
              <a:t>Dynamic recomposition of automation flows without manual code editing.</a:t>
            </a:r>
            <a:endParaRPr lang="en-US" sz="1150" dirty="0"/>
          </a:p>
        </p:txBody>
      </p:sp>
      <p:sp>
        <p:nvSpPr>
          <p:cNvPr id="18" name="Text 14"/>
          <p:cNvSpPr/>
          <p:nvPr/>
        </p:nvSpPr>
        <p:spPr>
          <a:xfrm>
            <a:off x="3840603" y="4679156"/>
            <a:ext cx="4659455" cy="392906"/>
          </a:xfrm>
          <a:prstGeom prst="rect">
            <a:avLst/>
          </a:prstGeom>
          <a:noFill/>
          <a:ln/>
        </p:spPr>
        <p:txBody>
          <a:bodyPr wrap="square" lIns="0" tIns="0" rIns="0" bIns="0" rtlCol="0" anchor="t">
            <a:spAutoFit/>
          </a:bodyPr>
          <a:lstStyle/>
          <a:p>
            <a:pPr algn="l" indent="0" marL="0">
              <a:buNone/>
            </a:pPr>
            <a:r>
              <a:rPr lang="en-US" sz="1150" dirty="0">
                <a:solidFill>
                  <a:srgbClr val="455A64"/>
                </a:solidFill>
                <a:latin typeface="Source Sans Pro" pitchFamily="34" charset="0"/>
                <a:ea typeface="Source Sans Pro" pitchFamily="34" charset="-122"/>
                <a:cs typeface="Source Sans Pro" pitchFamily="34" charset="-120"/>
              </a:rPr>
              <a:t>Responsive design optimized for both desktop and mobile administration.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571500"/>
            <a:ext cx="2619022"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Experimental</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Results</a:t>
            </a:r>
            <a:endParaRPr lang="en-US" sz="2650" dirty="0"/>
          </a:p>
        </p:txBody>
      </p:sp>
      <p:sp>
        <p:nvSpPr>
          <p:cNvPr id="7" name="Text 3"/>
          <p:cNvSpPr/>
          <p:nvPr/>
        </p:nvSpPr>
        <p:spPr>
          <a:xfrm>
            <a:off x="3476272" y="571500"/>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Performance Benchmarks</a:t>
            </a:r>
            <a:endParaRPr lang="en-US" sz="1500" dirty="0"/>
          </a:p>
        </p:txBody>
      </p:sp>
      <p:sp>
        <p:nvSpPr>
          <p:cNvPr id="8" name="Text 4"/>
          <p:cNvSpPr/>
          <p:nvPr/>
        </p:nvSpPr>
        <p:spPr>
          <a:xfrm>
            <a:off x="3476272" y="1000125"/>
            <a:ext cx="3142859" cy="339328"/>
          </a:xfrm>
          <a:prstGeom prst="rect">
            <a:avLst/>
          </a:prstGeom>
          <a:noFill/>
          <a:ln/>
        </p:spPr>
        <p:txBody>
          <a:bodyPr wrap="square" lIns="0" tIns="102108" rIns="0" bIns="102108" rtlCol="0" anchor="ctr">
            <a:spAutoFit/>
          </a:bodyPr>
          <a:lstStyle/>
          <a:p>
            <a:pPr algn="l" indent="0" marL="0">
              <a:buNone/>
            </a:pPr>
            <a:r>
              <a:rPr lang="en-US" sz="900" b="1" dirty="0">
                <a:solidFill>
                  <a:srgbClr val="4A148C"/>
                </a:solidFill>
                <a:latin typeface="Source Sans Pro" pitchFamily="34" charset="0"/>
                <a:ea typeface="Source Sans Pro" pitchFamily="34" charset="-122"/>
                <a:cs typeface="Source Sans Pro" pitchFamily="34" charset="-120"/>
              </a:rPr>
              <a:t>METRIC</a:t>
            </a:r>
            <a:endParaRPr lang="en-US" sz="900" dirty="0"/>
          </a:p>
        </p:txBody>
      </p:sp>
      <p:sp>
        <p:nvSpPr>
          <p:cNvPr id="9" name="Text 5"/>
          <p:cNvSpPr/>
          <p:nvPr/>
        </p:nvSpPr>
        <p:spPr>
          <a:xfrm>
            <a:off x="6619131" y="1000125"/>
            <a:ext cx="2095240" cy="339328"/>
          </a:xfrm>
          <a:prstGeom prst="rect">
            <a:avLst/>
          </a:prstGeom>
          <a:noFill/>
          <a:ln/>
        </p:spPr>
        <p:txBody>
          <a:bodyPr wrap="square" lIns="0" tIns="102108" rIns="0" bIns="102108" rtlCol="0" anchor="ctr">
            <a:spAutoFit/>
          </a:bodyPr>
          <a:lstStyle/>
          <a:p>
            <a:pPr algn="l" indent="0" marL="0">
              <a:buNone/>
            </a:pPr>
            <a:r>
              <a:rPr lang="en-US" sz="900" b="1" dirty="0">
                <a:solidFill>
                  <a:srgbClr val="4A148C"/>
                </a:solidFill>
                <a:latin typeface="Source Sans Pro" pitchFamily="34" charset="0"/>
                <a:ea typeface="Source Sans Pro" pitchFamily="34" charset="-122"/>
                <a:cs typeface="Source Sans Pro" pitchFamily="34" charset="-120"/>
              </a:rPr>
              <a:t>MEASURED VALUE</a:t>
            </a:r>
            <a:endParaRPr lang="en-US" sz="900" dirty="0"/>
          </a:p>
        </p:txBody>
      </p:sp>
      <p:sp>
        <p:nvSpPr>
          <p:cNvPr id="10" name="Text 6"/>
          <p:cNvSpPr/>
          <p:nvPr/>
        </p:nvSpPr>
        <p:spPr>
          <a:xfrm>
            <a:off x="3476272" y="1339453"/>
            <a:ext cx="3142859" cy="403622"/>
          </a:xfrm>
          <a:prstGeom prst="rect">
            <a:avLst/>
          </a:prstGeom>
          <a:noFill/>
          <a:ln/>
        </p:spPr>
        <p:txBody>
          <a:bodyPr wrap="square" lIns="0" tIns="127508" rIns="0" bIns="127508" rtlCol="0" anchor="ctr">
            <a:spAutoFit/>
          </a:bodyPr>
          <a:lstStyle/>
          <a:p>
            <a:pPr algn="l" indent="0" marL="0">
              <a:buNone/>
            </a:pPr>
            <a:r>
              <a:rPr lang="en-US" sz="1050" dirty="0">
                <a:solidFill>
                  <a:srgbClr val="263238"/>
                </a:solidFill>
                <a:latin typeface="Source Sans Pro" pitchFamily="34" charset="0"/>
                <a:ea typeface="Source Sans Pro" pitchFamily="34" charset="-122"/>
                <a:cs typeface="Source Sans Pro" pitchFamily="34" charset="-120"/>
              </a:rPr>
              <a:t>Discovery Time (255 Hosts)</a:t>
            </a:r>
            <a:endParaRPr lang="en-US" sz="1050" dirty="0"/>
          </a:p>
        </p:txBody>
      </p:sp>
      <p:sp>
        <p:nvSpPr>
          <p:cNvPr id="11" name="Text 7"/>
          <p:cNvSpPr/>
          <p:nvPr/>
        </p:nvSpPr>
        <p:spPr>
          <a:xfrm>
            <a:off x="6619131" y="1339453"/>
            <a:ext cx="2095240" cy="403622"/>
          </a:xfrm>
          <a:prstGeom prst="rect">
            <a:avLst/>
          </a:prstGeom>
          <a:noFill/>
          <a:ln/>
        </p:spPr>
        <p:txBody>
          <a:bodyPr wrap="square" lIns="0" tIns="127508" rIns="0" bIns="127508" rtlCol="0" anchor="ctr">
            <a:spAutoFit/>
          </a:bodyPr>
          <a:lstStyle/>
          <a:p>
            <a:pPr algn="r" indent="0" marL="0">
              <a:buNone/>
            </a:pPr>
            <a:r>
              <a:rPr lang="en-US" sz="1000" b="1" dirty="0">
                <a:solidFill>
                  <a:srgbClr val="4A148C"/>
                </a:solidFill>
                <a:latin typeface="Source Sans Pro" pitchFamily="34" charset="0"/>
                <a:ea typeface="Source Sans Pro" pitchFamily="34" charset="-122"/>
                <a:cs typeface="Source Sans Pro" pitchFamily="34" charset="-120"/>
              </a:rPr>
              <a:t>&lt; 3.0 Seconds</a:t>
            </a:r>
            <a:endParaRPr lang="en-US" sz="1000" dirty="0"/>
          </a:p>
        </p:txBody>
      </p:sp>
      <p:sp>
        <p:nvSpPr>
          <p:cNvPr id="12" name="Text 8"/>
          <p:cNvSpPr/>
          <p:nvPr/>
        </p:nvSpPr>
        <p:spPr>
          <a:xfrm>
            <a:off x="3476272" y="1743075"/>
            <a:ext cx="3142859" cy="400050"/>
          </a:xfrm>
          <a:prstGeom prst="rect">
            <a:avLst/>
          </a:prstGeom>
          <a:noFill/>
          <a:ln/>
        </p:spPr>
        <p:txBody>
          <a:bodyPr wrap="square" lIns="0" tIns="127508" rIns="0" bIns="127508" rtlCol="0" anchor="ctr">
            <a:spAutoFit/>
          </a:bodyPr>
          <a:lstStyle/>
          <a:p>
            <a:pPr algn="l" indent="0" marL="0">
              <a:buNone/>
            </a:pPr>
            <a:r>
              <a:rPr lang="en-US" sz="1050" dirty="0">
                <a:solidFill>
                  <a:srgbClr val="263238"/>
                </a:solidFill>
                <a:latin typeface="Source Sans Pro" pitchFamily="34" charset="0"/>
                <a:ea typeface="Source Sans Pro" pitchFamily="34" charset="-122"/>
                <a:cs typeface="Source Sans Pro" pitchFamily="34" charset="-120"/>
              </a:rPr>
              <a:t>Local HTTP API Latency</a:t>
            </a:r>
            <a:endParaRPr lang="en-US" sz="1050" dirty="0"/>
          </a:p>
        </p:txBody>
      </p:sp>
      <p:sp>
        <p:nvSpPr>
          <p:cNvPr id="13" name="Text 9"/>
          <p:cNvSpPr/>
          <p:nvPr/>
        </p:nvSpPr>
        <p:spPr>
          <a:xfrm>
            <a:off x="6619131" y="1743075"/>
            <a:ext cx="2095240" cy="400050"/>
          </a:xfrm>
          <a:prstGeom prst="rect">
            <a:avLst/>
          </a:prstGeom>
          <a:noFill/>
          <a:ln/>
        </p:spPr>
        <p:txBody>
          <a:bodyPr wrap="square" lIns="0" tIns="127508" rIns="0" bIns="127508" rtlCol="0" anchor="ctr">
            <a:spAutoFit/>
          </a:bodyPr>
          <a:lstStyle/>
          <a:p>
            <a:pPr algn="r" indent="0" marL="0">
              <a:buNone/>
            </a:pPr>
            <a:r>
              <a:rPr lang="en-US" sz="1000" b="1" dirty="0">
                <a:solidFill>
                  <a:srgbClr val="4A148C"/>
                </a:solidFill>
                <a:latin typeface="Source Sans Pro" pitchFamily="34" charset="0"/>
                <a:ea typeface="Source Sans Pro" pitchFamily="34" charset="-122"/>
                <a:cs typeface="Source Sans Pro" pitchFamily="34" charset="-120"/>
              </a:rPr>
              <a:t>&lt; 15 Milliseconds</a:t>
            </a:r>
            <a:endParaRPr lang="en-US" sz="1000" dirty="0"/>
          </a:p>
        </p:txBody>
      </p:sp>
      <p:sp>
        <p:nvSpPr>
          <p:cNvPr id="14" name="Text 10"/>
          <p:cNvSpPr/>
          <p:nvPr/>
        </p:nvSpPr>
        <p:spPr>
          <a:xfrm>
            <a:off x="3476272" y="2143125"/>
            <a:ext cx="3142859" cy="400050"/>
          </a:xfrm>
          <a:prstGeom prst="rect">
            <a:avLst/>
          </a:prstGeom>
          <a:noFill/>
          <a:ln/>
        </p:spPr>
        <p:txBody>
          <a:bodyPr wrap="square" lIns="0" tIns="127508" rIns="0" bIns="127508" rtlCol="0" anchor="ctr">
            <a:spAutoFit/>
          </a:bodyPr>
          <a:lstStyle/>
          <a:p>
            <a:pPr algn="l" indent="0" marL="0">
              <a:buNone/>
            </a:pPr>
            <a:r>
              <a:rPr lang="en-US" sz="1050" dirty="0">
                <a:solidFill>
                  <a:srgbClr val="263238"/>
                </a:solidFill>
                <a:latin typeface="Source Sans Pro" pitchFamily="34" charset="0"/>
                <a:ea typeface="Source Sans Pro" pitchFamily="34" charset="-122"/>
                <a:cs typeface="Source Sans Pro" pitchFamily="34" charset="-120"/>
              </a:rPr>
              <a:t>Remote Sync Latency</a:t>
            </a:r>
            <a:endParaRPr lang="en-US" sz="1050" dirty="0"/>
          </a:p>
        </p:txBody>
      </p:sp>
      <p:sp>
        <p:nvSpPr>
          <p:cNvPr id="15" name="Text 11"/>
          <p:cNvSpPr/>
          <p:nvPr/>
        </p:nvSpPr>
        <p:spPr>
          <a:xfrm>
            <a:off x="6619131" y="2143125"/>
            <a:ext cx="2095240" cy="400050"/>
          </a:xfrm>
          <a:prstGeom prst="rect">
            <a:avLst/>
          </a:prstGeom>
          <a:noFill/>
          <a:ln/>
        </p:spPr>
        <p:txBody>
          <a:bodyPr wrap="square" lIns="0" tIns="127508" rIns="0" bIns="127508" rtlCol="0" anchor="ctr">
            <a:spAutoFit/>
          </a:bodyPr>
          <a:lstStyle/>
          <a:p>
            <a:pPr algn="r" indent="0" marL="0">
              <a:buNone/>
            </a:pPr>
            <a:r>
              <a:rPr lang="en-US" sz="1000" b="1" dirty="0">
                <a:solidFill>
                  <a:srgbClr val="4A148C"/>
                </a:solidFill>
                <a:latin typeface="Source Sans Pro" pitchFamily="34" charset="0"/>
                <a:ea typeface="Source Sans Pro" pitchFamily="34" charset="-122"/>
                <a:cs typeface="Source Sans Pro" pitchFamily="34" charset="-120"/>
              </a:rPr>
              <a:t>80 - 200 Milliseconds</a:t>
            </a:r>
            <a:endParaRPr lang="en-US" sz="1000" dirty="0"/>
          </a:p>
        </p:txBody>
      </p:sp>
      <p:sp>
        <p:nvSpPr>
          <p:cNvPr id="16" name="Text 12"/>
          <p:cNvSpPr/>
          <p:nvPr/>
        </p:nvSpPr>
        <p:spPr>
          <a:xfrm>
            <a:off x="3476272" y="2543175"/>
            <a:ext cx="3142859" cy="400050"/>
          </a:xfrm>
          <a:prstGeom prst="rect">
            <a:avLst/>
          </a:prstGeom>
          <a:noFill/>
          <a:ln/>
        </p:spPr>
        <p:txBody>
          <a:bodyPr wrap="square" lIns="0" tIns="127508" rIns="0" bIns="127508" rtlCol="0" anchor="ctr">
            <a:spAutoFit/>
          </a:bodyPr>
          <a:lstStyle/>
          <a:p>
            <a:pPr algn="l" indent="0" marL="0">
              <a:buNone/>
            </a:pPr>
            <a:r>
              <a:rPr lang="en-US" sz="1050" dirty="0">
                <a:solidFill>
                  <a:srgbClr val="263238"/>
                </a:solidFill>
                <a:latin typeface="Source Sans Pro" pitchFamily="34" charset="0"/>
                <a:ea typeface="Source Sans Pro" pitchFamily="34" charset="-122"/>
                <a:cs typeface="Source Sans Pro" pitchFamily="34" charset="-120"/>
              </a:rPr>
              <a:t>AI Script Synthesis Time</a:t>
            </a:r>
            <a:endParaRPr lang="en-US" sz="1050" dirty="0"/>
          </a:p>
        </p:txBody>
      </p:sp>
      <p:sp>
        <p:nvSpPr>
          <p:cNvPr id="17" name="Text 13"/>
          <p:cNvSpPr/>
          <p:nvPr/>
        </p:nvSpPr>
        <p:spPr>
          <a:xfrm>
            <a:off x="6619131" y="2543175"/>
            <a:ext cx="2095240" cy="400050"/>
          </a:xfrm>
          <a:prstGeom prst="rect">
            <a:avLst/>
          </a:prstGeom>
          <a:noFill/>
          <a:ln/>
        </p:spPr>
        <p:txBody>
          <a:bodyPr wrap="square" lIns="0" tIns="127508" rIns="0" bIns="127508" rtlCol="0" anchor="ctr">
            <a:spAutoFit/>
          </a:bodyPr>
          <a:lstStyle/>
          <a:p>
            <a:pPr algn="r" indent="0" marL="0">
              <a:buNone/>
            </a:pPr>
            <a:r>
              <a:rPr lang="en-US" sz="1000" b="1" dirty="0">
                <a:solidFill>
                  <a:srgbClr val="4A148C"/>
                </a:solidFill>
                <a:latin typeface="Source Sans Pro" pitchFamily="34" charset="0"/>
                <a:ea typeface="Source Sans Pro" pitchFamily="34" charset="-122"/>
                <a:cs typeface="Source Sans Pro" pitchFamily="34" charset="-120"/>
              </a:rPr>
              <a:t>&lt; 3.0 Seconds</a:t>
            </a:r>
            <a:endParaRPr lang="en-US" sz="1000" dirty="0"/>
          </a:p>
        </p:txBody>
      </p:sp>
      <p:sp>
        <p:nvSpPr>
          <p:cNvPr id="18" name="Text 14"/>
          <p:cNvSpPr/>
          <p:nvPr/>
        </p:nvSpPr>
        <p:spPr>
          <a:xfrm>
            <a:off x="3476272" y="3232547"/>
            <a:ext cx="5238099"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Success Scenarios</a:t>
            </a:r>
            <a:endParaRPr lang="en-US" sz="1500" dirty="0"/>
          </a:p>
        </p:txBody>
      </p:sp>
      <p:sp>
        <p:nvSpPr>
          <p:cNvPr id="19" name="Text 15"/>
          <p:cNvSpPr/>
          <p:nvPr/>
        </p:nvSpPr>
        <p:spPr>
          <a:xfrm>
            <a:off x="3626290" y="3732609"/>
            <a:ext cx="4136231" cy="178594"/>
          </a:xfrm>
          <a:prstGeom prst="rect">
            <a:avLst/>
          </a:prstGeom>
          <a:noFill/>
          <a:ln/>
        </p:spPr>
        <p:txBody>
          <a:bodyPr wrap="square" lIns="0" tIns="0" rIns="0" bIns="0" rtlCol="0" anchor="t">
            <a:spAutoFit/>
          </a:bodyPr>
          <a:lstStyle/>
          <a:p>
            <a:pPr algn="l" indent="0" marL="0">
              <a:buNone/>
            </a:pPr>
            <a:r>
              <a:rPr lang="en-US" sz="1000" b="1" dirty="0">
                <a:solidFill>
                  <a:srgbClr val="2E7D32"/>
                </a:solidFill>
                <a:latin typeface="Source Sans Pro" pitchFamily="34" charset="0"/>
                <a:ea typeface="Source Sans Pro" pitchFamily="34" charset="-122"/>
                <a:cs typeface="Source Sans Pro" pitchFamily="34" charset="-120"/>
              </a:rPr>
              <a:t>✓</a:t>
            </a:r>
            <a:r>
              <a:rPr lang="en-US" sz="1050" dirty="0">
                <a:solidFill>
                  <a:srgbClr val="455A64"/>
                </a:solidFill>
                <a:latin typeface="Source Sans Pro" pitchFamily="34" charset="0"/>
                <a:ea typeface="Source Sans Pro" pitchFamily="34" charset="-122"/>
                <a:cs typeface="Source Sans Pro" pitchFamily="34" charset="-120"/>
              </a:rPr>
              <a:t> </a:t>
            </a:r>
            <a:r>
              <a:rPr lang="en-US" sz="1000" b="1" dirty="0">
                <a:solidFill>
                  <a:srgbClr val="4A148C"/>
                </a:solidFill>
                <a:latin typeface="Source Sans Pro" pitchFamily="34" charset="0"/>
                <a:ea typeface="Source Sans Pro" pitchFamily="34" charset="-122"/>
                <a:cs typeface="Source Sans Pro" pitchFamily="34" charset="-120"/>
              </a:rPr>
              <a:t>Button → LED Relay:</a:t>
            </a:r>
            <a:r>
              <a:rPr lang="en-US" sz="1050" dirty="0">
                <a:solidFill>
                  <a:srgbClr val="455A64"/>
                </a:solidFill>
                <a:latin typeface="Source Sans Pro" pitchFamily="34" charset="0"/>
                <a:ea typeface="Source Sans Pro" pitchFamily="34" charset="-122"/>
                <a:cs typeface="Source Sans Pro" pitchFamily="34" charset="-120"/>
              </a:rPr>
              <a:t> Physical trigger to remote actuation in &lt; 50ms.</a:t>
            </a:r>
            <a:endParaRPr lang="en-US" sz="1000" dirty="0"/>
          </a:p>
        </p:txBody>
      </p:sp>
      <p:sp>
        <p:nvSpPr>
          <p:cNvPr id="20" name="Text 16"/>
          <p:cNvSpPr/>
          <p:nvPr/>
        </p:nvSpPr>
        <p:spPr>
          <a:xfrm>
            <a:off x="3626290" y="4018359"/>
            <a:ext cx="4968478" cy="178594"/>
          </a:xfrm>
          <a:prstGeom prst="rect">
            <a:avLst/>
          </a:prstGeom>
          <a:noFill/>
          <a:ln/>
        </p:spPr>
        <p:txBody>
          <a:bodyPr wrap="square" lIns="0" tIns="0" rIns="0" bIns="0" rtlCol="0" anchor="t">
            <a:spAutoFit/>
          </a:bodyPr>
          <a:lstStyle/>
          <a:p>
            <a:pPr algn="l" indent="0" marL="0">
              <a:buNone/>
            </a:pPr>
            <a:r>
              <a:rPr lang="en-US" sz="1000" b="1" dirty="0">
                <a:solidFill>
                  <a:srgbClr val="2E7D32"/>
                </a:solidFill>
                <a:latin typeface="Source Sans Pro" pitchFamily="34" charset="0"/>
                <a:ea typeface="Source Sans Pro" pitchFamily="34" charset="-122"/>
                <a:cs typeface="Source Sans Pro" pitchFamily="34" charset="-120"/>
              </a:rPr>
              <a:t>✓</a:t>
            </a:r>
            <a:r>
              <a:rPr lang="en-US" sz="1050" dirty="0">
                <a:solidFill>
                  <a:srgbClr val="455A64"/>
                </a:solidFill>
                <a:latin typeface="Source Sans Pro" pitchFamily="34" charset="0"/>
                <a:ea typeface="Source Sans Pro" pitchFamily="34" charset="-122"/>
                <a:cs typeface="Source Sans Pro" pitchFamily="34" charset="-120"/>
              </a:rPr>
              <a:t> </a:t>
            </a:r>
            <a:r>
              <a:rPr lang="en-US" sz="1000" b="1" dirty="0">
                <a:solidFill>
                  <a:srgbClr val="4A148C"/>
                </a:solidFill>
                <a:latin typeface="Source Sans Pro" pitchFamily="34" charset="0"/>
                <a:ea typeface="Source Sans Pro" pitchFamily="34" charset="-122"/>
                <a:cs typeface="Source Sans Pro" pitchFamily="34" charset="-120"/>
              </a:rPr>
              <a:t>Agentic Logic:</a:t>
            </a:r>
            <a:r>
              <a:rPr lang="en-US" sz="1050" dirty="0">
                <a:solidFill>
                  <a:srgbClr val="455A64"/>
                </a:solidFill>
                <a:latin typeface="Source Sans Pro" pitchFamily="34" charset="0"/>
                <a:ea typeface="Source Sans Pro" pitchFamily="34" charset="-122"/>
                <a:cs typeface="Source Sans Pro" pitchFamily="34" charset="-120"/>
              </a:rPr>
              <a:t> 95% accuracy in translating natural language to valid Python scripts.</a:t>
            </a:r>
            <a:endParaRPr lang="en-US" sz="1000" dirty="0"/>
          </a:p>
        </p:txBody>
      </p:sp>
      <p:sp>
        <p:nvSpPr>
          <p:cNvPr id="21" name="Text 17"/>
          <p:cNvSpPr/>
          <p:nvPr/>
        </p:nvSpPr>
        <p:spPr>
          <a:xfrm>
            <a:off x="3626290" y="4304109"/>
            <a:ext cx="4854178" cy="178594"/>
          </a:xfrm>
          <a:prstGeom prst="rect">
            <a:avLst/>
          </a:prstGeom>
          <a:noFill/>
          <a:ln/>
        </p:spPr>
        <p:txBody>
          <a:bodyPr wrap="square" lIns="0" tIns="0" rIns="0" bIns="0" rtlCol="0" anchor="t">
            <a:spAutoFit/>
          </a:bodyPr>
          <a:lstStyle/>
          <a:p>
            <a:pPr algn="l" indent="0" marL="0">
              <a:buNone/>
            </a:pPr>
            <a:r>
              <a:rPr lang="en-US" sz="1000" b="1" dirty="0">
                <a:solidFill>
                  <a:srgbClr val="2E7D32"/>
                </a:solidFill>
                <a:latin typeface="Source Sans Pro" pitchFamily="34" charset="0"/>
                <a:ea typeface="Source Sans Pro" pitchFamily="34" charset="-122"/>
                <a:cs typeface="Source Sans Pro" pitchFamily="34" charset="-120"/>
              </a:rPr>
              <a:t>✓</a:t>
            </a:r>
            <a:r>
              <a:rPr lang="en-US" sz="1050" dirty="0">
                <a:solidFill>
                  <a:srgbClr val="455A64"/>
                </a:solidFill>
                <a:latin typeface="Source Sans Pro" pitchFamily="34" charset="0"/>
                <a:ea typeface="Source Sans Pro" pitchFamily="34" charset="-122"/>
                <a:cs typeface="Source Sans Pro" pitchFamily="34" charset="-120"/>
              </a:rPr>
              <a:t> </a:t>
            </a:r>
            <a:r>
              <a:rPr lang="en-US" sz="1000" b="1" dirty="0">
                <a:solidFill>
                  <a:srgbClr val="4A148C"/>
                </a:solidFill>
                <a:latin typeface="Source Sans Pro" pitchFamily="34" charset="0"/>
                <a:ea typeface="Source Sans Pro" pitchFamily="34" charset="-122"/>
                <a:cs typeface="Source Sans Pro" pitchFamily="34" charset="-120"/>
              </a:rPr>
              <a:t>Flow Sync:</a:t>
            </a:r>
            <a:r>
              <a:rPr lang="en-US" sz="1050" dirty="0">
                <a:solidFill>
                  <a:srgbClr val="455A64"/>
                </a:solidFill>
                <a:latin typeface="Source Sans Pro" pitchFamily="34" charset="0"/>
                <a:ea typeface="Source Sans Pro" pitchFamily="34" charset="-122"/>
                <a:cs typeface="Source Sans Pro" pitchFamily="34" charset="-120"/>
              </a:rPr>
              <a:t> 100% consistency between generated code and visual graph updates.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Text 2"/>
          <p:cNvSpPr/>
          <p:nvPr/>
        </p:nvSpPr>
        <p:spPr>
          <a:xfrm>
            <a:off x="428625" y="571500"/>
            <a:ext cx="2619022"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263238"/>
                </a:solidFill>
                <a:latin typeface="Playfair Display SemiBold" pitchFamily="34" charset="0"/>
                <a:ea typeface="Playfair Display SemiBold" pitchFamily="34" charset="-122"/>
                <a:cs typeface="Playfair Display SemiBold" pitchFamily="34" charset="-120"/>
              </a:rPr>
              <a:t>Challenges</a:t>
            </a:r>
            <a:r>
              <a:rPr lang="en-US" sz="2650" b="1" dirty="0">
                <a:solidFill>
                  <a:srgbClr val="263238"/>
                </a:solidFill>
                <a:latin typeface="Playfair Display SemiBold" pitchFamily="34" charset="0"/>
                <a:ea typeface="Playfair Display SemiBold" pitchFamily="34" charset="-122"/>
                <a:cs typeface="Playfair Display SemiBold" pitchFamily="34" charset="-120"/>
              </a:rPr>
              <a:t>
</a:t>
            </a:r>
            <a:r>
              <a:rPr lang="en-US" sz="2650" b="1" dirty="0">
                <a:solidFill>
                  <a:srgbClr val="263238"/>
                </a:solidFill>
                <a:latin typeface="Playfair Display SemiBold" pitchFamily="34" charset="0"/>
                <a:ea typeface="Playfair Display SemiBold" pitchFamily="34" charset="-122"/>
                <a:cs typeface="Playfair Display SemiBold" pitchFamily="34" charset="-120"/>
              </a:rPr>
              <a:t>&amp; Roadmap</a:t>
            </a:r>
            <a:endParaRPr lang="en-US" sz="2650" dirty="0"/>
          </a:p>
        </p:txBody>
      </p:sp>
      <p:sp>
        <p:nvSpPr>
          <p:cNvPr id="7" name="Text 3"/>
          <p:cNvSpPr/>
          <p:nvPr/>
        </p:nvSpPr>
        <p:spPr>
          <a:xfrm>
            <a:off x="3476272" y="571500"/>
            <a:ext cx="5238099" cy="160734"/>
          </a:xfrm>
          <a:prstGeom prst="rect">
            <a:avLst/>
          </a:prstGeom>
          <a:noFill/>
          <a:ln/>
        </p:spPr>
        <p:txBody>
          <a:bodyPr wrap="square" lIns="0" tIns="0" rIns="0" bIns="0" rtlCol="0" anchor="t">
            <a:spAutoFit/>
          </a:bodyPr>
          <a:lstStyle/>
          <a:p>
            <a:pPr algn="l" indent="0" marL="0">
              <a:buNone/>
            </a:pPr>
            <a:r>
              <a:rPr lang="en-US" sz="900" b="1" spc="1" kern="0" dirty="0">
                <a:solidFill>
                  <a:srgbClr val="4A148C"/>
                </a:solidFill>
                <a:latin typeface="Source Sans Pro" pitchFamily="34" charset="0"/>
                <a:ea typeface="Source Sans Pro" pitchFamily="34" charset="-122"/>
                <a:cs typeface="Source Sans Pro" pitchFamily="34" charset="-120"/>
              </a:rPr>
              <a:t>CURRENT LIMITATIONS</a:t>
            </a:r>
            <a:endParaRPr lang="en-US" sz="900" dirty="0"/>
          </a:p>
        </p:txBody>
      </p:sp>
      <p:sp>
        <p:nvSpPr>
          <p:cNvPr id="8" name="Text 4"/>
          <p:cNvSpPr/>
          <p:nvPr/>
        </p:nvSpPr>
        <p:spPr>
          <a:xfrm>
            <a:off x="3626290" y="875109"/>
            <a:ext cx="5088080" cy="357188"/>
          </a:xfrm>
          <a:prstGeom prst="rect">
            <a:avLst/>
          </a:prstGeom>
          <a:noFill/>
          <a:ln/>
        </p:spPr>
        <p:txBody>
          <a:bodyPr wrap="square" lIns="0" tIns="0" rIns="0" bIns="0" rtlCol="0" anchor="t">
            <a:spAutoFit/>
          </a:bodyPr>
          <a:lstStyle/>
          <a:p>
            <a:pPr algn="l" indent="0" marL="0">
              <a:buNone/>
            </a:pPr>
            <a:r>
              <a:rPr lang="en-US" sz="1000" b="1" dirty="0">
                <a:solidFill>
                  <a:srgbClr val="263238"/>
                </a:solidFill>
                <a:latin typeface="Source Sans Pro" pitchFamily="34" charset="0"/>
                <a:ea typeface="Source Sans Pro" pitchFamily="34" charset="-122"/>
                <a:cs typeface="Source Sans Pro" pitchFamily="34" charset="-120"/>
              </a:rPr>
              <a:t>Hardware Constraints:</a:t>
            </a:r>
            <a:r>
              <a:rPr lang="en-US" sz="1050" dirty="0">
                <a:solidFill>
                  <a:srgbClr val="455A64"/>
                </a:solidFill>
                <a:latin typeface="Source Sans Pro" pitchFamily="34" charset="0"/>
                <a:ea typeface="Source Sans Pro" pitchFamily="34" charset="-122"/>
                <a:cs typeface="Source Sans Pro" pitchFamily="34" charset="-120"/>
              </a:rPr>
              <a:t> v1 blocks are single-role per ESP8266; limited RAM for complex </a:t>
            </a:r>
            <a:r>
              <a:rPr lang="en-US" sz="1050" dirty="0">
                <a:solidFill>
                  <a:srgbClr val="455A64"/>
                </a:solidFill>
                <a:latin typeface="Source Sans Pro" pitchFamily="34" charset="0"/>
                <a:ea typeface="Source Sans Pro" pitchFamily="34" charset="-122"/>
                <a:cs typeface="Source Sans Pro" pitchFamily="34" charset="-120"/>
              </a:rPr>
              <a:t>local logic.</a:t>
            </a:r>
            <a:endParaRPr lang="en-US" sz="1000" dirty="0"/>
          </a:p>
        </p:txBody>
      </p:sp>
      <p:sp>
        <p:nvSpPr>
          <p:cNvPr id="9" name="Text 5"/>
          <p:cNvSpPr/>
          <p:nvPr/>
        </p:nvSpPr>
        <p:spPr>
          <a:xfrm>
            <a:off x="3626290" y="1339453"/>
            <a:ext cx="5088080" cy="357188"/>
          </a:xfrm>
          <a:prstGeom prst="rect">
            <a:avLst/>
          </a:prstGeom>
          <a:noFill/>
          <a:ln/>
        </p:spPr>
        <p:txBody>
          <a:bodyPr wrap="square" lIns="0" tIns="0" rIns="0" bIns="0" rtlCol="0" anchor="t">
            <a:spAutoFit/>
          </a:bodyPr>
          <a:lstStyle/>
          <a:p>
            <a:pPr algn="l" indent="0" marL="0">
              <a:buNone/>
            </a:pPr>
            <a:r>
              <a:rPr lang="en-US" sz="1000" b="1" dirty="0">
                <a:solidFill>
                  <a:srgbClr val="263238"/>
                </a:solidFill>
                <a:latin typeface="Source Sans Pro" pitchFamily="34" charset="0"/>
                <a:ea typeface="Source Sans Pro" pitchFamily="34" charset="-122"/>
                <a:cs typeface="Source Sans Pro" pitchFamily="34" charset="-120"/>
              </a:rPr>
              <a:t>Sync Overhead:</a:t>
            </a:r>
            <a:r>
              <a:rPr lang="en-US" sz="1050" dirty="0">
                <a:solidFill>
                  <a:srgbClr val="455A64"/>
                </a:solidFill>
                <a:latin typeface="Source Sans Pro" pitchFamily="34" charset="0"/>
                <a:ea typeface="Source Sans Pro" pitchFamily="34" charset="-122"/>
                <a:cs typeface="Source Sans Pro" pitchFamily="34" charset="-120"/>
              </a:rPr>
              <a:t> HTTP polling introduces latency and network noise compared to push-</a:t>
            </a:r>
            <a:r>
              <a:rPr lang="en-US" sz="1050" dirty="0">
                <a:solidFill>
                  <a:srgbClr val="455A64"/>
                </a:solidFill>
                <a:latin typeface="Source Sans Pro" pitchFamily="34" charset="0"/>
                <a:ea typeface="Source Sans Pro" pitchFamily="34" charset="-122"/>
                <a:cs typeface="Source Sans Pro" pitchFamily="34" charset="-120"/>
              </a:rPr>
              <a:t>based models.</a:t>
            </a:r>
            <a:endParaRPr lang="en-US" sz="1000" dirty="0"/>
          </a:p>
        </p:txBody>
      </p:sp>
      <p:sp>
        <p:nvSpPr>
          <p:cNvPr id="10" name="Text 6"/>
          <p:cNvSpPr/>
          <p:nvPr/>
        </p:nvSpPr>
        <p:spPr>
          <a:xfrm>
            <a:off x="3626290" y="1803797"/>
            <a:ext cx="4143375" cy="178594"/>
          </a:xfrm>
          <a:prstGeom prst="rect">
            <a:avLst/>
          </a:prstGeom>
          <a:noFill/>
          <a:ln/>
        </p:spPr>
        <p:txBody>
          <a:bodyPr wrap="square" lIns="0" tIns="0" rIns="0" bIns="0" rtlCol="0" anchor="t">
            <a:spAutoFit/>
          </a:bodyPr>
          <a:lstStyle/>
          <a:p>
            <a:pPr algn="l" indent="0" marL="0">
              <a:buNone/>
            </a:pPr>
            <a:r>
              <a:rPr lang="en-US" sz="1000" b="1" dirty="0">
                <a:solidFill>
                  <a:srgbClr val="263238"/>
                </a:solidFill>
                <a:latin typeface="Source Sans Pro" pitchFamily="34" charset="0"/>
                <a:ea typeface="Source Sans Pro" pitchFamily="34" charset="-122"/>
                <a:cs typeface="Source Sans Pro" pitchFamily="34" charset="-120"/>
              </a:rPr>
              <a:t>Security:</a:t>
            </a:r>
            <a:r>
              <a:rPr lang="en-US" sz="1050" dirty="0">
                <a:solidFill>
                  <a:srgbClr val="455A64"/>
                </a:solidFill>
                <a:latin typeface="Source Sans Pro" pitchFamily="34" charset="0"/>
                <a:ea typeface="Source Sans Pro" pitchFamily="34" charset="-122"/>
                <a:cs typeface="Source Sans Pro" pitchFamily="34" charset="-120"/>
              </a:rPr>
              <a:t> Lack of encrypted local communication (roadmap item for v2).</a:t>
            </a:r>
            <a:endParaRPr lang="en-US" sz="1000" dirty="0"/>
          </a:p>
        </p:txBody>
      </p:sp>
      <p:sp>
        <p:nvSpPr>
          <p:cNvPr id="11" name="Text 7"/>
          <p:cNvSpPr/>
          <p:nvPr/>
        </p:nvSpPr>
        <p:spPr>
          <a:xfrm>
            <a:off x="3476272" y="2489597"/>
            <a:ext cx="2511865" cy="192881"/>
          </a:xfrm>
          <a:prstGeom prst="rect">
            <a:avLst/>
          </a:prstGeom>
          <a:noFill/>
          <a:ln/>
        </p:spPr>
        <p:txBody>
          <a:bodyPr wrap="none" lIns="0" tIns="0" rIns="0" bIns="0" rtlCol="0" anchor="t">
            <a:spAutoFit/>
          </a:bodyPr>
          <a:lstStyle/>
          <a:p>
            <a:pPr algn="l" indent="0" marL="0">
              <a:lnSpc>
                <a:spcPct val="120000"/>
              </a:lnSpc>
              <a:buNone/>
            </a:pPr>
            <a:r>
              <a:rPr lang="en-US" sz="900" b="1" spc="1" kern="0" dirty="0">
                <a:solidFill>
                  <a:srgbClr val="4A148C"/>
                </a:solidFill>
                <a:latin typeface="Source Sans Pro" pitchFamily="34" charset="0"/>
                <a:ea typeface="Source Sans Pro" pitchFamily="34" charset="-122"/>
                <a:cs typeface="Source Sans Pro" pitchFamily="34" charset="-120"/>
              </a:rPr>
              <a:t>Q3: INFRASTRUCTURE</a:t>
            </a:r>
            <a:endParaRPr lang="en-US" sz="900" dirty="0"/>
          </a:p>
        </p:txBody>
      </p:sp>
      <p:sp>
        <p:nvSpPr>
          <p:cNvPr id="12" name="Text 8"/>
          <p:cNvSpPr/>
          <p:nvPr/>
        </p:nvSpPr>
        <p:spPr>
          <a:xfrm>
            <a:off x="3626290" y="2825353"/>
            <a:ext cx="2361847" cy="428625"/>
          </a:xfrm>
          <a:prstGeom prst="rect">
            <a:avLst/>
          </a:prstGeom>
          <a:noFill/>
          <a:ln/>
        </p:spPr>
        <p:txBody>
          <a:bodyPr wrap="square" lIns="0" tIns="0" rIns="0" bIns="0" rtlCol="0" anchor="t">
            <a:spAutoFit/>
          </a:bodyPr>
          <a:lstStyle/>
          <a:p>
            <a:pPr algn="l" indent="0" marL="0">
              <a:lnSpc>
                <a:spcPct val="120000"/>
              </a:lnSpc>
              <a:buNone/>
            </a:pPr>
            <a:r>
              <a:rPr lang="en-US" sz="1000" b="1" dirty="0">
                <a:solidFill>
                  <a:srgbClr val="263238"/>
                </a:solidFill>
                <a:latin typeface="Source Sans Pro" pitchFamily="34" charset="0"/>
                <a:ea typeface="Source Sans Pro" pitchFamily="34" charset="-122"/>
                <a:cs typeface="Source Sans Pro" pitchFamily="34" charset="-120"/>
              </a:rPr>
              <a:t>ESP32 Migration:</a:t>
            </a:r>
            <a:r>
              <a:rPr lang="en-US" sz="1050" dirty="0">
                <a:solidFill>
                  <a:srgbClr val="455A64"/>
                </a:solidFill>
                <a:latin typeface="Source Sans Pro" pitchFamily="34" charset="0"/>
                <a:ea typeface="Source Sans Pro" pitchFamily="34" charset="-122"/>
                <a:cs typeface="Source Sans Pro" pitchFamily="34" charset="-120"/>
              </a:rPr>
              <a:t> TLS/HTTPS support </a:t>
            </a:r>
            <a:r>
              <a:rPr lang="en-US" sz="1050" dirty="0">
                <a:solidFill>
                  <a:srgbClr val="455A64"/>
                </a:solidFill>
                <a:latin typeface="Source Sans Pro" pitchFamily="34" charset="0"/>
                <a:ea typeface="Source Sans Pro" pitchFamily="34" charset="-122"/>
                <a:cs typeface="Source Sans Pro" pitchFamily="34" charset="-120"/>
              </a:rPr>
              <a:t>and BLE mesh networking.</a:t>
            </a:r>
            <a:endParaRPr lang="en-US" sz="1000" dirty="0"/>
          </a:p>
        </p:txBody>
      </p:sp>
      <p:sp>
        <p:nvSpPr>
          <p:cNvPr id="13" name="Text 9"/>
          <p:cNvSpPr/>
          <p:nvPr/>
        </p:nvSpPr>
        <p:spPr>
          <a:xfrm>
            <a:off x="3626290" y="3361134"/>
            <a:ext cx="2361847" cy="428625"/>
          </a:xfrm>
          <a:prstGeom prst="rect">
            <a:avLst/>
          </a:prstGeom>
          <a:noFill/>
          <a:ln/>
        </p:spPr>
        <p:txBody>
          <a:bodyPr wrap="square" lIns="0" tIns="0" rIns="0" bIns="0" rtlCol="0" anchor="t">
            <a:spAutoFit/>
          </a:bodyPr>
          <a:lstStyle/>
          <a:p>
            <a:pPr algn="l" indent="0" marL="0">
              <a:lnSpc>
                <a:spcPct val="120000"/>
              </a:lnSpc>
              <a:buNone/>
            </a:pPr>
            <a:r>
              <a:rPr lang="en-US" sz="1000" b="1" dirty="0">
                <a:solidFill>
                  <a:srgbClr val="263238"/>
                </a:solidFill>
                <a:latin typeface="Source Sans Pro" pitchFamily="34" charset="0"/>
                <a:ea typeface="Source Sans Pro" pitchFamily="34" charset="-122"/>
                <a:cs typeface="Source Sans Pro" pitchFamily="34" charset="-120"/>
              </a:rPr>
              <a:t>WebSocket Push:</a:t>
            </a:r>
            <a:r>
              <a:rPr lang="en-US" sz="1050" dirty="0">
                <a:solidFill>
                  <a:srgbClr val="455A64"/>
                </a:solidFill>
                <a:latin typeface="Source Sans Pro" pitchFamily="34" charset="0"/>
                <a:ea typeface="Source Sans Pro" pitchFamily="34" charset="-122"/>
                <a:cs typeface="Source Sans Pro" pitchFamily="34" charset="-120"/>
              </a:rPr>
              <a:t> Sub-10ms state sync </a:t>
            </a:r>
            <a:r>
              <a:rPr lang="en-US" sz="1050" dirty="0">
                <a:solidFill>
                  <a:srgbClr val="455A64"/>
                </a:solidFill>
                <a:latin typeface="Source Sans Pro" pitchFamily="34" charset="0"/>
                <a:ea typeface="Source Sans Pro" pitchFamily="34" charset="-122"/>
                <a:cs typeface="Source Sans Pro" pitchFamily="34" charset="-120"/>
              </a:rPr>
              <a:t>latency.</a:t>
            </a:r>
            <a:endParaRPr lang="en-US" sz="1000" dirty="0"/>
          </a:p>
        </p:txBody>
      </p:sp>
      <p:sp>
        <p:nvSpPr>
          <p:cNvPr id="14" name="Text 10"/>
          <p:cNvSpPr/>
          <p:nvPr/>
        </p:nvSpPr>
        <p:spPr>
          <a:xfrm>
            <a:off x="6202449" y="2489597"/>
            <a:ext cx="2511921" cy="192881"/>
          </a:xfrm>
          <a:prstGeom prst="rect">
            <a:avLst/>
          </a:prstGeom>
          <a:noFill/>
          <a:ln/>
        </p:spPr>
        <p:txBody>
          <a:bodyPr wrap="none" lIns="0" tIns="0" rIns="0" bIns="0" rtlCol="0" anchor="t">
            <a:spAutoFit/>
          </a:bodyPr>
          <a:lstStyle/>
          <a:p>
            <a:pPr algn="l" indent="0" marL="0">
              <a:lnSpc>
                <a:spcPct val="120000"/>
              </a:lnSpc>
              <a:buNone/>
            </a:pPr>
            <a:r>
              <a:rPr lang="en-US" sz="900" b="1" spc="1" kern="0" dirty="0">
                <a:solidFill>
                  <a:srgbClr val="4A148C"/>
                </a:solidFill>
                <a:latin typeface="Source Sans Pro" pitchFamily="34" charset="0"/>
                <a:ea typeface="Source Sans Pro" pitchFamily="34" charset="-122"/>
                <a:cs typeface="Source Sans Pro" pitchFamily="34" charset="-120"/>
              </a:rPr>
              <a:t>Q4: INTELLIGENCE</a:t>
            </a:r>
            <a:endParaRPr lang="en-US" sz="900" dirty="0"/>
          </a:p>
        </p:txBody>
      </p:sp>
      <p:sp>
        <p:nvSpPr>
          <p:cNvPr id="15" name="Text 11"/>
          <p:cNvSpPr/>
          <p:nvPr/>
        </p:nvSpPr>
        <p:spPr>
          <a:xfrm>
            <a:off x="6352468" y="2825353"/>
            <a:ext cx="2361902" cy="428625"/>
          </a:xfrm>
          <a:prstGeom prst="rect">
            <a:avLst/>
          </a:prstGeom>
          <a:noFill/>
          <a:ln/>
        </p:spPr>
        <p:txBody>
          <a:bodyPr wrap="square" lIns="0" tIns="0" rIns="0" bIns="0" rtlCol="0" anchor="t">
            <a:spAutoFit/>
          </a:bodyPr>
          <a:lstStyle/>
          <a:p>
            <a:pPr algn="l" indent="0" marL="0">
              <a:lnSpc>
                <a:spcPct val="120000"/>
              </a:lnSpc>
              <a:buNone/>
            </a:pPr>
            <a:r>
              <a:rPr lang="en-US" sz="1000" b="1" dirty="0">
                <a:solidFill>
                  <a:srgbClr val="263238"/>
                </a:solidFill>
                <a:latin typeface="Source Sans Pro" pitchFamily="34" charset="0"/>
                <a:ea typeface="Source Sans Pro" pitchFamily="34" charset="-122"/>
                <a:cs typeface="Source Sans Pro" pitchFamily="34" charset="-120"/>
              </a:rPr>
              <a:t>Multi-Agent:</a:t>
            </a:r>
            <a:r>
              <a:rPr lang="en-US" sz="1050" dirty="0">
                <a:solidFill>
                  <a:srgbClr val="455A64"/>
                </a:solidFill>
                <a:latin typeface="Source Sans Pro" pitchFamily="34" charset="0"/>
                <a:ea typeface="Source Sans Pro" pitchFamily="34" charset="-122"/>
                <a:cs typeface="Source Sans Pro" pitchFamily="34" charset="-120"/>
              </a:rPr>
              <a:t> Collaborative distributed </a:t>
            </a:r>
            <a:r>
              <a:rPr lang="en-US" sz="1050" dirty="0">
                <a:solidFill>
                  <a:srgbClr val="455A64"/>
                </a:solidFill>
                <a:latin typeface="Source Sans Pro" pitchFamily="34" charset="0"/>
                <a:ea typeface="Source Sans Pro" pitchFamily="34" charset="-122"/>
                <a:cs typeface="Source Sans Pro" pitchFamily="34" charset="-120"/>
              </a:rPr>
              <a:t>automation.</a:t>
            </a:r>
            <a:endParaRPr lang="en-US" sz="1000" dirty="0"/>
          </a:p>
        </p:txBody>
      </p:sp>
      <p:sp>
        <p:nvSpPr>
          <p:cNvPr id="16" name="Text 12"/>
          <p:cNvSpPr/>
          <p:nvPr/>
        </p:nvSpPr>
        <p:spPr>
          <a:xfrm>
            <a:off x="6352468" y="3361134"/>
            <a:ext cx="2361902" cy="428625"/>
          </a:xfrm>
          <a:prstGeom prst="rect">
            <a:avLst/>
          </a:prstGeom>
          <a:noFill/>
          <a:ln/>
        </p:spPr>
        <p:txBody>
          <a:bodyPr wrap="square" lIns="0" tIns="0" rIns="0" bIns="0" rtlCol="0" anchor="t">
            <a:spAutoFit/>
          </a:bodyPr>
          <a:lstStyle/>
          <a:p>
            <a:pPr algn="l" indent="0" marL="0">
              <a:lnSpc>
                <a:spcPct val="120000"/>
              </a:lnSpc>
              <a:buNone/>
            </a:pPr>
            <a:r>
              <a:rPr lang="en-US" sz="1000" b="1" dirty="0">
                <a:solidFill>
                  <a:srgbClr val="263238"/>
                </a:solidFill>
                <a:latin typeface="Source Sans Pro" pitchFamily="34" charset="0"/>
                <a:ea typeface="Source Sans Pro" pitchFamily="34" charset="-122"/>
                <a:cs typeface="Source Sans Pro" pitchFamily="34" charset="-120"/>
              </a:rPr>
              <a:t>Formal Verification:</a:t>
            </a:r>
            <a:r>
              <a:rPr lang="en-US" sz="1050" dirty="0">
                <a:solidFill>
                  <a:srgbClr val="455A64"/>
                </a:solidFill>
                <a:latin typeface="Source Sans Pro" pitchFamily="34" charset="0"/>
                <a:ea typeface="Source Sans Pro" pitchFamily="34" charset="-122"/>
                <a:cs typeface="Source Sans Pro" pitchFamily="34" charset="-120"/>
              </a:rPr>
              <a:t> Safety checking for </a:t>
            </a:r>
            <a:r>
              <a:rPr lang="en-US" sz="1050" dirty="0">
                <a:solidFill>
                  <a:srgbClr val="455A64"/>
                </a:solidFill>
                <a:latin typeface="Source Sans Pro" pitchFamily="34" charset="0"/>
                <a:ea typeface="Source Sans Pro" pitchFamily="34" charset="-122"/>
                <a:cs typeface="Source Sans Pro" pitchFamily="34" charset="-120"/>
              </a:rPr>
              <a:t>AI scripts.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47" cy="5143500"/>
          </a:xfrm>
          <a:prstGeom prst="rect">
            <a:avLst/>
          </a:prstGeom>
          <a:solidFill>
            <a:srgbClr val="000000">
              <a:alpha val="0"/>
            </a:srgbClr>
          </a:solidFill>
          <a:ln/>
        </p:spPr>
      </p:sp>
      <p:sp>
        <p:nvSpPr>
          <p:cNvPr id="5" name="Shape 1"/>
          <p:cNvSpPr/>
          <p:nvPr/>
        </p:nvSpPr>
        <p:spPr>
          <a:xfrm>
            <a:off x="3026215" y="0"/>
            <a:ext cx="21431" cy="5143500"/>
          </a:xfrm>
          <a:prstGeom prst="rect">
            <a:avLst/>
          </a:prstGeom>
          <a:solidFill>
            <a:srgbClr val="4A148C"/>
          </a:solidFill>
          <a:ln/>
        </p:spPr>
      </p:sp>
      <p:sp>
        <p:nvSpPr>
          <p:cNvPr id="6" name="Shape 2"/>
          <p:cNvSpPr/>
          <p:nvPr/>
        </p:nvSpPr>
        <p:spPr>
          <a:xfrm>
            <a:off x="428625" y="714375"/>
            <a:ext cx="2619022" cy="303609"/>
          </a:xfrm>
          <a:prstGeom prst="rect">
            <a:avLst/>
          </a:prstGeom>
          <a:solidFill>
            <a:srgbClr val="4A148C"/>
          </a:solidFill>
          <a:ln/>
        </p:spPr>
      </p:sp>
      <p:sp>
        <p:nvSpPr>
          <p:cNvPr id="7" name="Text 3"/>
          <p:cNvSpPr/>
          <p:nvPr/>
        </p:nvSpPr>
        <p:spPr>
          <a:xfrm>
            <a:off x="428625" y="714375"/>
            <a:ext cx="2619022" cy="303609"/>
          </a:xfrm>
          <a:prstGeom prst="rect">
            <a:avLst/>
          </a:prstGeom>
          <a:noFill/>
          <a:ln/>
        </p:spPr>
        <p:txBody>
          <a:bodyPr wrap="square" lIns="170053" tIns="85090" rIns="170053" bIns="85090" rtlCol="0" anchor="t">
            <a:spAutoFit/>
          </a:bodyPr>
          <a:lstStyle/>
          <a:p>
            <a:pPr algn="l" indent="0" marL="0">
              <a:buNone/>
            </a:pPr>
            <a:r>
              <a:rPr lang="en-US" sz="950" dirty="0">
                <a:solidFill>
                  <a:srgbClr val="FFFFFF"/>
                </a:solidFill>
                <a:latin typeface="Source Sans Pro" pitchFamily="34" charset="0"/>
                <a:ea typeface="Source Sans Pro" pitchFamily="34" charset="-122"/>
                <a:cs typeface="Source Sans Pro" pitchFamily="34" charset="-120"/>
              </a:rPr>
              <a:t>PROJECT WRAP-UP</a:t>
            </a:r>
            <a:endParaRPr lang="en-US" sz="950" dirty="0"/>
          </a:p>
        </p:txBody>
      </p:sp>
      <p:sp>
        <p:nvSpPr>
          <p:cNvPr id="8" name="Text 4"/>
          <p:cNvSpPr/>
          <p:nvPr/>
        </p:nvSpPr>
        <p:spPr>
          <a:xfrm>
            <a:off x="428625" y="1160859"/>
            <a:ext cx="2619022" cy="1005818"/>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263238"/>
                </a:solidFill>
                <a:latin typeface="Playfair Display SemiBold" pitchFamily="34" charset="0"/>
                <a:ea typeface="Playfair Display SemiBold" pitchFamily="34" charset="-122"/>
                <a:cs typeface="Playfair Display SemiBold" pitchFamily="34" charset="-120"/>
              </a:rPr>
              <a:t>Final</a:t>
            </a:r>
            <a:r>
              <a:rPr lang="en-US" sz="3300" b="1" dirty="0">
                <a:solidFill>
                  <a:srgbClr val="263238"/>
                </a:solidFill>
                <a:latin typeface="Playfair Display SemiBold" pitchFamily="34" charset="0"/>
                <a:ea typeface="Playfair Display SemiBold" pitchFamily="34" charset="-122"/>
                <a:cs typeface="Playfair Display SemiBold" pitchFamily="34" charset="-120"/>
              </a:rPr>
              <a:t>
</a:t>
            </a:r>
            <a:r>
              <a:rPr lang="en-US" sz="3300" b="1" dirty="0">
                <a:solidFill>
                  <a:srgbClr val="263238"/>
                </a:solidFill>
                <a:latin typeface="Playfair Display SemiBold" pitchFamily="34" charset="0"/>
                <a:ea typeface="Playfair Display SemiBold" pitchFamily="34" charset="-122"/>
                <a:cs typeface="Playfair Display SemiBold" pitchFamily="34" charset="-120"/>
              </a:rPr>
              <a:t>Remarks</a:t>
            </a:r>
            <a:endParaRPr lang="en-US" sz="3300" dirty="0"/>
          </a:p>
        </p:txBody>
      </p:sp>
      <p:sp>
        <p:nvSpPr>
          <p:cNvPr id="9" name="Text 5"/>
          <p:cNvSpPr/>
          <p:nvPr/>
        </p:nvSpPr>
        <p:spPr>
          <a:xfrm>
            <a:off x="3619147" y="714375"/>
            <a:ext cx="5095224" cy="250031"/>
          </a:xfrm>
          <a:prstGeom prst="rect">
            <a:avLst/>
          </a:prstGeom>
          <a:noFill/>
          <a:ln/>
        </p:spPr>
        <p:txBody>
          <a:bodyPr wrap="square" lIns="0" tIns="0" rIns="0" bIns="0" rtlCol="0" anchor="t">
            <a:spAutoFit/>
          </a:bodyPr>
          <a:lstStyle/>
          <a:p>
            <a:pPr algn="l" indent="0" marL="0">
              <a:buNone/>
            </a:pPr>
            <a:r>
              <a:rPr lang="en-US" sz="1500" dirty="0">
                <a:solidFill>
                  <a:srgbClr val="263238"/>
                </a:solidFill>
                <a:latin typeface="Source Sans Pro" pitchFamily="34" charset="0"/>
                <a:ea typeface="Source Sans Pro" pitchFamily="34" charset="-122"/>
                <a:cs typeface="Source Sans Pro" pitchFamily="34" charset="-120"/>
              </a:rPr>
              <a:t>Summary of Achievements</a:t>
            </a:r>
            <a:endParaRPr lang="en-US" sz="1500" dirty="0"/>
          </a:p>
        </p:txBody>
      </p:sp>
      <p:sp>
        <p:nvSpPr>
          <p:cNvPr id="10" name="Text 6"/>
          <p:cNvSpPr/>
          <p:nvPr/>
        </p:nvSpPr>
        <p:spPr>
          <a:xfrm>
            <a:off x="3769165" y="1250156"/>
            <a:ext cx="4945205"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Modular Platform:</a:t>
            </a:r>
            <a:r>
              <a:rPr lang="en-US" sz="1150" dirty="0">
                <a:solidFill>
                  <a:srgbClr val="455A64"/>
                </a:solidFill>
                <a:latin typeface="Source Sans Pro" pitchFamily="34" charset="0"/>
                <a:ea typeface="Source Sans Pro" pitchFamily="34" charset="-122"/>
                <a:cs typeface="Source Sans Pro" pitchFamily="34" charset="-120"/>
              </a:rPr>
              <a:t> Successfully designed a hardware-agnostic IoT system </a:t>
            </a:r>
            <a:r>
              <a:rPr lang="en-US" sz="1150" dirty="0">
                <a:solidFill>
                  <a:srgbClr val="455A64"/>
                </a:solidFill>
                <a:latin typeface="Source Sans Pro" pitchFamily="34" charset="0"/>
                <a:ea typeface="Source Sans Pro" pitchFamily="34" charset="-122"/>
                <a:cs typeface="Source Sans Pro" pitchFamily="34" charset="-120"/>
              </a:rPr>
              <a:t>with uniform REST APIs.</a:t>
            </a:r>
            <a:endParaRPr lang="en-US" sz="1100" dirty="0"/>
          </a:p>
        </p:txBody>
      </p:sp>
      <p:sp>
        <p:nvSpPr>
          <p:cNvPr id="11" name="Text 7"/>
          <p:cNvSpPr/>
          <p:nvPr/>
        </p:nvSpPr>
        <p:spPr>
          <a:xfrm>
            <a:off x="3769165" y="1821656"/>
            <a:ext cx="4945205"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OOP Control:</a:t>
            </a:r>
            <a:r>
              <a:rPr lang="en-US" sz="1150" dirty="0">
                <a:solidFill>
                  <a:srgbClr val="455A64"/>
                </a:solidFill>
                <a:latin typeface="Source Sans Pro" pitchFamily="34" charset="0"/>
                <a:ea typeface="Source Sans Pro" pitchFamily="34" charset="-122"/>
                <a:cs typeface="Source Sans Pro" pitchFamily="34" charset="-120"/>
              </a:rPr>
              <a:t> Developed a robust Python library for declarative, state-aware </a:t>
            </a:r>
            <a:r>
              <a:rPr lang="en-US" sz="1150" dirty="0">
                <a:solidFill>
                  <a:srgbClr val="455A64"/>
                </a:solidFill>
                <a:latin typeface="Source Sans Pro" pitchFamily="34" charset="0"/>
                <a:ea typeface="Source Sans Pro" pitchFamily="34" charset="-122"/>
                <a:cs typeface="Source Sans Pro" pitchFamily="34" charset="-120"/>
              </a:rPr>
              <a:t>device orchestration.</a:t>
            </a:r>
            <a:endParaRPr lang="en-US" sz="1100" dirty="0"/>
          </a:p>
        </p:txBody>
      </p:sp>
      <p:sp>
        <p:nvSpPr>
          <p:cNvPr id="12" name="Text 8"/>
          <p:cNvSpPr/>
          <p:nvPr/>
        </p:nvSpPr>
        <p:spPr>
          <a:xfrm>
            <a:off x="3769165" y="2393156"/>
            <a:ext cx="4945205"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AI Integration:</a:t>
            </a:r>
            <a:r>
              <a:rPr lang="en-US" sz="1150" dirty="0">
                <a:solidFill>
                  <a:srgbClr val="455A64"/>
                </a:solidFill>
                <a:latin typeface="Source Sans Pro" pitchFamily="34" charset="0"/>
                <a:ea typeface="Source Sans Pro" pitchFamily="34" charset="-122"/>
                <a:cs typeface="Source Sans Pro" pitchFamily="34" charset="-120"/>
              </a:rPr>
              <a:t> Integrated agentic AI for natural language automation script </a:t>
            </a:r>
            <a:r>
              <a:rPr lang="en-US" sz="1150" dirty="0">
                <a:solidFill>
                  <a:srgbClr val="455A64"/>
                </a:solidFill>
                <a:latin typeface="Source Sans Pro" pitchFamily="34" charset="0"/>
                <a:ea typeface="Source Sans Pro" pitchFamily="34" charset="-122"/>
                <a:cs typeface="Source Sans Pro" pitchFamily="34" charset="-120"/>
              </a:rPr>
              <a:t>synthesis.</a:t>
            </a:r>
            <a:endParaRPr lang="en-US" sz="1100" dirty="0"/>
          </a:p>
        </p:txBody>
      </p:sp>
      <p:sp>
        <p:nvSpPr>
          <p:cNvPr id="13" name="Text 9"/>
          <p:cNvSpPr/>
          <p:nvPr/>
        </p:nvSpPr>
        <p:spPr>
          <a:xfrm>
            <a:off x="3769165" y="2964656"/>
            <a:ext cx="4945205" cy="392906"/>
          </a:xfrm>
          <a:prstGeom prst="rect">
            <a:avLst/>
          </a:prstGeom>
          <a:noFill/>
          <a:ln/>
        </p:spPr>
        <p:txBody>
          <a:bodyPr wrap="square" lIns="0" tIns="0" rIns="0" bIns="0" rtlCol="0" anchor="t">
            <a:spAutoFit/>
          </a:bodyPr>
          <a:lstStyle/>
          <a:p>
            <a:pPr algn="l" indent="0" marL="0">
              <a:buNone/>
            </a:pPr>
            <a:r>
              <a:rPr lang="en-US" sz="1100" b="1" dirty="0">
                <a:solidFill>
                  <a:srgbClr val="4A148C"/>
                </a:solidFill>
                <a:latin typeface="Source Sans Pro" pitchFamily="34" charset="0"/>
                <a:ea typeface="Source Sans Pro" pitchFamily="34" charset="-122"/>
                <a:cs typeface="Source Sans Pro" pitchFamily="34" charset="-120"/>
              </a:rPr>
              <a:t>Visual Programming:</a:t>
            </a:r>
            <a:r>
              <a:rPr lang="en-US" sz="1150" dirty="0">
                <a:solidFill>
                  <a:srgbClr val="455A64"/>
                </a:solidFill>
                <a:latin typeface="Source Sans Pro" pitchFamily="34" charset="0"/>
                <a:ea typeface="Source Sans Pro" pitchFamily="34" charset="-122"/>
                <a:cs typeface="Source Sans Pro" pitchFamily="34" charset="-120"/>
              </a:rPr>
              <a:t> Built a bidirectional flow environment synchronized </a:t>
            </a:r>
            <a:r>
              <a:rPr lang="en-US" sz="1150" dirty="0">
                <a:solidFill>
                  <a:srgbClr val="455A64"/>
                </a:solidFill>
                <a:latin typeface="Source Sans Pro" pitchFamily="34" charset="0"/>
                <a:ea typeface="Source Sans Pro" pitchFamily="34" charset="-122"/>
                <a:cs typeface="Source Sans Pro" pitchFamily="34" charset="-120"/>
              </a:rPr>
              <a:t>with code logic.</a:t>
            </a:r>
            <a:endParaRPr lang="en-US" sz="1100" dirty="0"/>
          </a:p>
        </p:txBody>
      </p:sp>
      <p:sp>
        <p:nvSpPr>
          <p:cNvPr id="14" name="Text 10"/>
          <p:cNvSpPr/>
          <p:nvPr/>
        </p:nvSpPr>
        <p:spPr>
          <a:xfrm>
            <a:off x="3619147" y="4007644"/>
            <a:ext cx="5095224" cy="457200"/>
          </a:xfrm>
          <a:prstGeom prst="rect">
            <a:avLst/>
          </a:prstGeom>
          <a:noFill/>
          <a:ln/>
        </p:spPr>
        <p:txBody>
          <a:bodyPr wrap="square" lIns="0" tIns="0" rIns="0" bIns="0" rtlCol="0" anchor="t">
            <a:spAutoFit/>
          </a:bodyPr>
          <a:lstStyle/>
          <a:p>
            <a:pPr algn="l" indent="0" marL="0">
              <a:buNone/>
            </a:pPr>
            <a:r>
              <a:rPr lang="en-US" sz="2600" dirty="0">
                <a:solidFill>
                  <a:srgbClr val="263238"/>
                </a:solidFill>
                <a:latin typeface="Playfair Display SemiBold" pitchFamily="34" charset="0"/>
                <a:ea typeface="Playfair Display SemiBold" pitchFamily="34" charset="-122"/>
                <a:cs typeface="Playfair Display SemiBold" pitchFamily="34" charset="-120"/>
              </a:rPr>
              <a:t>Thank You!</a:t>
            </a:r>
            <a:endParaRPr lang="en-US" sz="2600" dirty="0"/>
          </a:p>
        </p:txBody>
      </p:sp>
      <p:sp>
        <p:nvSpPr>
          <p:cNvPr id="15" name="Text 11"/>
          <p:cNvSpPr/>
          <p:nvPr/>
        </p:nvSpPr>
        <p:spPr>
          <a:xfrm>
            <a:off x="3619147" y="4536281"/>
            <a:ext cx="5095224" cy="214313"/>
          </a:xfrm>
          <a:prstGeom prst="rect">
            <a:avLst/>
          </a:prstGeom>
          <a:noFill/>
          <a:ln/>
        </p:spPr>
        <p:txBody>
          <a:bodyPr wrap="square" lIns="0" tIns="0" rIns="0" bIns="0" rtlCol="0" anchor="t">
            <a:spAutoFit/>
          </a:bodyPr>
          <a:lstStyle/>
          <a:p>
            <a:pPr algn="l" indent="0" marL="0">
              <a:buNone/>
            </a:pPr>
            <a:r>
              <a:rPr lang="en-US" sz="1250" spc="1" kern="0" dirty="0">
                <a:solidFill>
                  <a:srgbClr val="4A148C"/>
                </a:solidFill>
                <a:latin typeface="Source Sans Pro" pitchFamily="34" charset="0"/>
                <a:ea typeface="Source Sans Pro" pitchFamily="34" charset="-122"/>
                <a:cs typeface="Source Sans Pro" pitchFamily="34" charset="-120"/>
              </a:rPr>
              <a:t>QUESTIONS &amp; DISCUSSION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2026-07-31T15:55:51Z</dcterms:created>
  <dcterms:modified xsi:type="dcterms:W3CDTF">2026-07-31T15:55:51Z</dcterms:modified>
</cp:coreProperties>
</file>