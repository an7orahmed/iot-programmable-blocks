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61" r:id="rId3"/>
    <p:sldId id="263" r:id="rId4"/>
    <p:sldId id="296" r:id="rId5"/>
    <p:sldId id="297" r:id="rId6"/>
    <p:sldId id="298" r:id="rId7"/>
    <p:sldId id="300" r:id="rId8"/>
    <p:sldId id="299" r:id="rId9"/>
    <p:sldId id="301" r:id="rId10"/>
    <p:sldId id="307" r:id="rId11"/>
    <p:sldId id="309" r:id="rId12"/>
    <p:sldId id="308" r:id="rId13"/>
    <p:sldId id="310" r:id="rId14"/>
    <p:sldId id="302" r:id="rId15"/>
    <p:sldId id="312" r:id="rId16"/>
    <p:sldId id="313" r:id="rId17"/>
    <p:sldId id="303" r:id="rId18"/>
    <p:sldId id="311" r:id="rId19"/>
    <p:sldId id="304" r:id="rId20"/>
    <p:sldId id="306" r:id="rId21"/>
    <p:sldId id="278" r:id="rId22"/>
  </p:sldIdLst>
  <p:sldSz cx="9144000" cy="5143500" type="screen16x9"/>
  <p:notesSz cx="6858000" cy="9144000"/>
  <p:embeddedFontLst>
    <p:embeddedFont>
      <p:font typeface="Segoe UI Semilight" panose="020B0402040204020203" pitchFamily="34" charset="0"/>
      <p:regular r:id="rId24"/>
      <p: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Dosis" panose="02010703020202060003" pitchFamily="2" charset="0"/>
      <p:bold r:id="rId30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57B9CE-27B7-45A4-9341-B09BDB51A24E}">
  <a:tblStyle styleId="{AF57B9CE-27B7-45A4-9341-B09BDB51A2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091BD0C-065F-43EE-8344-79AE29CD5F3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53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3175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3175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3175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3175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3175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106;g35f391192_0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9219" name="Google Shape;107;g35f391192_00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40;p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1267" name="Google Shape;141;p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166;g35f391192_017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3315" name="Google Shape;167;g35f391192_017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147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5603" name="Google Shape;148;g35ed75ccf_01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147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9699" name="Google Shape;148;g35ed75ccf_01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326;g35ed75ccf_022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1747" name="Google Shape;327;g35ed75ccf_022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22222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;p2"/>
          <p:cNvSpPr>
            <a:spLocks noChangeArrowheads="1"/>
          </p:cNvSpPr>
          <p:nvPr/>
        </p:nvSpPr>
        <p:spPr bwMode="auto">
          <a:xfrm>
            <a:off x="-11113" y="-11113"/>
            <a:ext cx="9144001" cy="5143501"/>
          </a:xfrm>
          <a:prstGeom prst="rect">
            <a:avLst/>
          </a:prstGeom>
          <a:solidFill>
            <a:srgbClr val="222222">
              <a:alpha val="6470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4" name="Google Shape;11;p2"/>
          <p:cNvSpPr>
            <a:spLocks/>
          </p:cNvSpPr>
          <p:nvPr/>
        </p:nvSpPr>
        <p:spPr bwMode="auto">
          <a:xfrm>
            <a:off x="5086350" y="-38100"/>
            <a:ext cx="4114800" cy="5219700"/>
          </a:xfrm>
          <a:custGeom>
            <a:avLst/>
            <a:gdLst>
              <a:gd name="T0" fmla="*/ 0 w 164592"/>
              <a:gd name="T1" fmla="*/ 38100 h 208788"/>
              <a:gd name="T2" fmla="*/ 2686050 w 164592"/>
              <a:gd name="T3" fmla="*/ 5219700 h 208788"/>
              <a:gd name="T4" fmla="*/ 4114800 w 164592"/>
              <a:gd name="T5" fmla="*/ 5219700 h 208788"/>
              <a:gd name="T6" fmla="*/ 4114800 w 164592"/>
              <a:gd name="T7" fmla="*/ 0 h 208788"/>
              <a:gd name="T8" fmla="*/ 0 w 164592"/>
              <a:gd name="T9" fmla="*/ 38100 h 2087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4592" h="208788" extrusionOk="0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lnTo>
                  <a:pt x="0" y="15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Google Shape;12;p2"/>
          <p:cNvSpPr>
            <a:spLocks noChangeArrowheads="1"/>
          </p:cNvSpPr>
          <p:nvPr/>
        </p:nvSpPr>
        <p:spPr bwMode="auto">
          <a:xfrm flipH="1">
            <a:off x="-419100" y="4394200"/>
            <a:ext cx="8172450" cy="749300"/>
          </a:xfrm>
          <a:prstGeom prst="parallelogram">
            <a:avLst>
              <a:gd name="adj" fmla="val 51504"/>
            </a:avLst>
          </a:prstGeom>
          <a:solidFill>
            <a:srgbClr val="FFFFFF">
              <a:alpha val="1764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434343"/>
              </a:solidFill>
            </a:endParaRPr>
          </a:p>
        </p:txBody>
      </p:sp>
      <p:sp>
        <p:nvSpPr>
          <p:cNvPr id="6" name="Google Shape;13;p2"/>
          <p:cNvSpPr>
            <a:spLocks noChangeArrowheads="1"/>
          </p:cNvSpPr>
          <p:nvPr/>
        </p:nvSpPr>
        <p:spPr bwMode="auto">
          <a:xfrm flipH="1">
            <a:off x="1028700" y="4167188"/>
            <a:ext cx="8369300" cy="227012"/>
          </a:xfrm>
          <a:prstGeom prst="parallelogram">
            <a:avLst>
              <a:gd name="adj" fmla="val 5171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28475" y="0"/>
            <a:ext cx="5238600" cy="40200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45263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userDrawn="1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31;p5"/>
          <p:cNvGrpSpPr>
            <a:grpSpLocks/>
          </p:cNvGrpSpPr>
          <p:nvPr/>
        </p:nvGrpSpPr>
        <p:grpSpPr bwMode="auto">
          <a:xfrm>
            <a:off x="-903288" y="-38100"/>
            <a:ext cx="10523538" cy="5214938"/>
            <a:chOff x="-903537" y="-38100"/>
            <a:chExt cx="10524355" cy="5214650"/>
          </a:xfrm>
        </p:grpSpPr>
        <p:sp>
          <p:nvSpPr>
            <p:cNvPr id="6" name="Google Shape;32;p5"/>
            <p:cNvSpPr>
              <a:spLocks/>
            </p:cNvSpPr>
            <p:nvPr/>
          </p:nvSpPr>
          <p:spPr bwMode="auto">
            <a:xfrm>
              <a:off x="-55075" y="-38100"/>
              <a:ext cx="3312625" cy="5214650"/>
            </a:xfrm>
            <a:custGeom>
              <a:avLst/>
              <a:gdLst>
                <a:gd name="T0" fmla="*/ 3312625 w 132505"/>
                <a:gd name="T1" fmla="*/ 5181600 h 208586"/>
                <a:gd name="T2" fmla="*/ 626575 w 132505"/>
                <a:gd name="T3" fmla="*/ 0 h 208586"/>
                <a:gd name="T4" fmla="*/ 0 w 132505"/>
                <a:gd name="T5" fmla="*/ 5050 h 208586"/>
                <a:gd name="T6" fmla="*/ 33050 w 132505"/>
                <a:gd name="T7" fmla="*/ 5214650 h 208586"/>
                <a:gd name="T8" fmla="*/ 3312625 w 132505"/>
                <a:gd name="T9" fmla="*/ 5181600 h 2085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505" h="208586" extrusionOk="0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lnTo>
                    <a:pt x="132505" y="20726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Google Shape;33;p5"/>
            <p:cNvSpPr>
              <a:spLocks noChangeArrowheads="1"/>
            </p:cNvSpPr>
            <p:nvPr/>
          </p:nvSpPr>
          <p:spPr bwMode="auto">
            <a:xfrm flipH="1">
              <a:off x="-903537" y="-17464"/>
              <a:ext cx="1759088" cy="749260"/>
            </a:xfrm>
            <a:prstGeom prst="parallelogram">
              <a:avLst>
                <a:gd name="adj" fmla="val 51546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Google Shape;34;p5"/>
            <p:cNvSpPr>
              <a:spLocks noChangeArrowheads="1"/>
            </p:cNvSpPr>
            <p:nvPr/>
          </p:nvSpPr>
          <p:spPr bwMode="auto">
            <a:xfrm flipH="1">
              <a:off x="471346" y="-9527"/>
              <a:ext cx="519152" cy="749259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Google Shape;35;p5"/>
            <p:cNvSpPr>
              <a:spLocks noChangeArrowheads="1"/>
            </p:cNvSpPr>
            <p:nvPr/>
          </p:nvSpPr>
          <p:spPr bwMode="auto">
            <a:xfrm flipH="1">
              <a:off x="742829" y="273033"/>
              <a:ext cx="7506283" cy="749259"/>
            </a:xfrm>
            <a:prstGeom prst="parallelogram">
              <a:avLst>
                <a:gd name="adj" fmla="val 51536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Google Shape;36;p5"/>
            <p:cNvSpPr>
              <a:spLocks noChangeArrowheads="1"/>
            </p:cNvSpPr>
            <p:nvPr/>
          </p:nvSpPr>
          <p:spPr bwMode="auto">
            <a:xfrm flipH="1">
              <a:off x="7861731" y="273033"/>
              <a:ext cx="1759087" cy="749259"/>
            </a:xfrm>
            <a:prstGeom prst="parallelogram">
              <a:avLst>
                <a:gd name="adj" fmla="val 5154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Google Shape;37;p5"/>
            <p:cNvSpPr>
              <a:spLocks noChangeArrowheads="1"/>
            </p:cNvSpPr>
            <p:nvPr/>
          </p:nvSpPr>
          <p:spPr bwMode="auto">
            <a:xfrm flipH="1">
              <a:off x="990498" y="4925739"/>
              <a:ext cx="8369950" cy="228587"/>
            </a:xfrm>
            <a:prstGeom prst="parallelogram">
              <a:avLst>
                <a:gd name="adj" fmla="val 51495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1104900" y="1277625"/>
            <a:ext cx="7581900" cy="36483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▸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9pPr>
          </a:lstStyle>
          <a:p>
            <a:endParaRPr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CAF87CF-DF08-4297-BBC9-72C441D9E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58349" y="10590"/>
            <a:ext cx="526563" cy="739775"/>
          </a:xfrm>
        </p:spPr>
        <p:txBody>
          <a:bodyPr anchor="ctr"/>
          <a:lstStyle>
            <a:lvl1pPr marL="38100" indent="0" algn="ctr">
              <a:buNone/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168784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userDrawn="1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42;p6"/>
          <p:cNvGrpSpPr>
            <a:grpSpLocks/>
          </p:cNvGrpSpPr>
          <p:nvPr/>
        </p:nvGrpSpPr>
        <p:grpSpPr bwMode="auto">
          <a:xfrm>
            <a:off x="-903288" y="-38100"/>
            <a:ext cx="10523538" cy="5214938"/>
            <a:chOff x="-903537" y="-38100"/>
            <a:chExt cx="10524355" cy="5214650"/>
          </a:xfrm>
        </p:grpSpPr>
        <p:sp>
          <p:nvSpPr>
            <p:cNvPr id="7" name="Google Shape;43;p6"/>
            <p:cNvSpPr>
              <a:spLocks/>
            </p:cNvSpPr>
            <p:nvPr/>
          </p:nvSpPr>
          <p:spPr bwMode="auto">
            <a:xfrm>
              <a:off x="-55075" y="-38100"/>
              <a:ext cx="3312625" cy="5214650"/>
            </a:xfrm>
            <a:custGeom>
              <a:avLst/>
              <a:gdLst>
                <a:gd name="T0" fmla="*/ 3312625 w 132505"/>
                <a:gd name="T1" fmla="*/ 5181600 h 208586"/>
                <a:gd name="T2" fmla="*/ 626575 w 132505"/>
                <a:gd name="T3" fmla="*/ 0 h 208586"/>
                <a:gd name="T4" fmla="*/ 0 w 132505"/>
                <a:gd name="T5" fmla="*/ 5050 h 208586"/>
                <a:gd name="T6" fmla="*/ 33050 w 132505"/>
                <a:gd name="T7" fmla="*/ 5214650 h 208586"/>
                <a:gd name="T8" fmla="*/ 3312625 w 132505"/>
                <a:gd name="T9" fmla="*/ 5181600 h 2085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505" h="208586" extrusionOk="0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lnTo>
                    <a:pt x="132505" y="20726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Google Shape;44;p6"/>
            <p:cNvSpPr>
              <a:spLocks noChangeArrowheads="1"/>
            </p:cNvSpPr>
            <p:nvPr/>
          </p:nvSpPr>
          <p:spPr bwMode="auto">
            <a:xfrm flipH="1">
              <a:off x="-903537" y="-17464"/>
              <a:ext cx="1759088" cy="749260"/>
            </a:xfrm>
            <a:prstGeom prst="parallelogram">
              <a:avLst>
                <a:gd name="adj" fmla="val 51546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Google Shape;45;p6"/>
            <p:cNvSpPr>
              <a:spLocks noChangeArrowheads="1"/>
            </p:cNvSpPr>
            <p:nvPr/>
          </p:nvSpPr>
          <p:spPr bwMode="auto">
            <a:xfrm flipH="1">
              <a:off x="471346" y="-9527"/>
              <a:ext cx="519152" cy="749259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Google Shape;46;p6"/>
            <p:cNvSpPr>
              <a:spLocks noChangeArrowheads="1"/>
            </p:cNvSpPr>
            <p:nvPr/>
          </p:nvSpPr>
          <p:spPr bwMode="auto">
            <a:xfrm flipH="1">
              <a:off x="742829" y="273033"/>
              <a:ext cx="7506283" cy="749259"/>
            </a:xfrm>
            <a:prstGeom prst="parallelogram">
              <a:avLst>
                <a:gd name="adj" fmla="val 51536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Google Shape;47;p6"/>
            <p:cNvSpPr>
              <a:spLocks noChangeArrowheads="1"/>
            </p:cNvSpPr>
            <p:nvPr/>
          </p:nvSpPr>
          <p:spPr bwMode="auto">
            <a:xfrm flipH="1">
              <a:off x="7861731" y="273033"/>
              <a:ext cx="1759087" cy="749259"/>
            </a:xfrm>
            <a:prstGeom prst="parallelogram">
              <a:avLst>
                <a:gd name="adj" fmla="val 5154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Google Shape;48;p6"/>
            <p:cNvSpPr>
              <a:spLocks noChangeArrowheads="1"/>
            </p:cNvSpPr>
            <p:nvPr/>
          </p:nvSpPr>
          <p:spPr bwMode="auto">
            <a:xfrm flipH="1">
              <a:off x="990498" y="4925739"/>
              <a:ext cx="8369950" cy="228587"/>
            </a:xfrm>
            <a:prstGeom prst="parallelogram">
              <a:avLst>
                <a:gd name="adj" fmla="val 51495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101375" y="1311550"/>
            <a:ext cx="3681900" cy="35379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5004949" y="1311550"/>
            <a:ext cx="3681900" cy="35379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A2A531F1-CAE7-4AC7-9DE1-AAA88A262A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58349" y="10590"/>
            <a:ext cx="526563" cy="739775"/>
          </a:xfrm>
        </p:spPr>
        <p:txBody>
          <a:bodyPr anchor="ctr"/>
          <a:lstStyle>
            <a:lvl1pPr marL="38100" indent="0" algn="ctr">
              <a:buNone/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190168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userDrawn="1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4;p11"/>
          <p:cNvSpPr>
            <a:spLocks/>
          </p:cNvSpPr>
          <p:nvPr/>
        </p:nvSpPr>
        <p:spPr bwMode="auto">
          <a:xfrm>
            <a:off x="-55563" y="-38100"/>
            <a:ext cx="3313113" cy="5214938"/>
          </a:xfrm>
          <a:custGeom>
            <a:avLst/>
            <a:gdLst>
              <a:gd name="T0" fmla="*/ 3313113 w 132505"/>
              <a:gd name="T1" fmla="*/ 5181886 h 208586"/>
              <a:gd name="T2" fmla="*/ 626667 w 132505"/>
              <a:gd name="T3" fmla="*/ 0 h 208586"/>
              <a:gd name="T4" fmla="*/ 0 w 132505"/>
              <a:gd name="T5" fmla="*/ 5050 h 208586"/>
              <a:gd name="T6" fmla="*/ 33055 w 132505"/>
              <a:gd name="T7" fmla="*/ 5214938 h 208586"/>
              <a:gd name="T8" fmla="*/ 3313113 w 132505"/>
              <a:gd name="T9" fmla="*/ 5181886 h 2085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lnTo>
                  <a:pt x="132505" y="20726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Google Shape;95;p11"/>
          <p:cNvSpPr>
            <a:spLocks noChangeArrowheads="1"/>
          </p:cNvSpPr>
          <p:nvPr/>
        </p:nvSpPr>
        <p:spPr bwMode="auto">
          <a:xfrm flipH="1">
            <a:off x="-903288" y="-17463"/>
            <a:ext cx="1758951" cy="749301"/>
          </a:xfrm>
          <a:prstGeom prst="parallelogram">
            <a:avLst>
              <a:gd name="adj" fmla="val 51524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Google Shape;96;p11"/>
          <p:cNvSpPr>
            <a:spLocks noChangeArrowheads="1"/>
          </p:cNvSpPr>
          <p:nvPr/>
        </p:nvSpPr>
        <p:spPr bwMode="auto">
          <a:xfrm flipH="1">
            <a:off x="471488" y="-9525"/>
            <a:ext cx="519112" cy="749300"/>
          </a:xfrm>
          <a:prstGeom prst="parallelogram">
            <a:avLst>
              <a:gd name="adj" fmla="val 75009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6" name="Google Shape;97;p11"/>
          <p:cNvSpPr>
            <a:spLocks noChangeArrowheads="1"/>
          </p:cNvSpPr>
          <p:nvPr/>
        </p:nvSpPr>
        <p:spPr bwMode="auto">
          <a:xfrm flipH="1">
            <a:off x="990600" y="4926013"/>
            <a:ext cx="8369300" cy="228600"/>
          </a:xfrm>
          <a:prstGeom prst="parallelogram">
            <a:avLst>
              <a:gd name="adj" fmla="val 5135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B6F35AA-A398-4E5D-8DA6-DB4D3815EC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58349" y="10590"/>
            <a:ext cx="526563" cy="739775"/>
          </a:xfrm>
        </p:spPr>
        <p:txBody>
          <a:bodyPr anchor="ctr"/>
          <a:lstStyle>
            <a:lvl1pPr marL="38100" indent="0" algn="ctr">
              <a:buNone/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829879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inverted" userDrawn="1">
  <p:cSld name="BLANK_1">
    <p:bg>
      <p:bgPr>
        <a:solidFill>
          <a:schemeClr val="tx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0;p12"/>
          <p:cNvSpPr/>
          <p:nvPr/>
        </p:nvSpPr>
        <p:spPr>
          <a:xfrm>
            <a:off x="-55563" y="-38100"/>
            <a:ext cx="3313113" cy="5214938"/>
          </a:xfrm>
          <a:custGeom>
            <a:avLst/>
            <a:gdLst/>
            <a:ahLst/>
            <a:cxnLst/>
            <a:rect l="l" t="t" r="r" b="b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4" name="Google Shape;101;p12"/>
          <p:cNvSpPr>
            <a:spLocks noChangeArrowheads="1"/>
          </p:cNvSpPr>
          <p:nvPr/>
        </p:nvSpPr>
        <p:spPr bwMode="auto">
          <a:xfrm flipH="1">
            <a:off x="-903288" y="-17463"/>
            <a:ext cx="1758951" cy="749301"/>
          </a:xfrm>
          <a:prstGeom prst="parallelogram">
            <a:avLst>
              <a:gd name="adj" fmla="val 51524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Google Shape;102;p12"/>
          <p:cNvSpPr/>
          <p:nvPr/>
        </p:nvSpPr>
        <p:spPr>
          <a:xfrm flipH="1">
            <a:off x="471488" y="-9525"/>
            <a:ext cx="519112" cy="749300"/>
          </a:xfrm>
          <a:prstGeom prst="parallelogram">
            <a:avLst>
              <a:gd name="adj" fmla="val 75009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ern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03;p12"/>
          <p:cNvSpPr>
            <a:spLocks noChangeArrowheads="1"/>
          </p:cNvSpPr>
          <p:nvPr/>
        </p:nvSpPr>
        <p:spPr bwMode="auto">
          <a:xfrm flipH="1">
            <a:off x="990600" y="4926013"/>
            <a:ext cx="8369300" cy="228600"/>
          </a:xfrm>
          <a:prstGeom prst="parallelogram">
            <a:avLst>
              <a:gd name="adj" fmla="val 5135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F70CB7-062C-4872-838D-8FF428A76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58349" y="10590"/>
            <a:ext cx="526563" cy="739775"/>
          </a:xfrm>
        </p:spPr>
        <p:txBody>
          <a:bodyPr anchor="ctr"/>
          <a:lstStyle>
            <a:lvl1pPr marL="38100" indent="0" algn="ctr">
              <a:buNone/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465133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1104900" y="276225"/>
            <a:ext cx="672465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panose="020B0604020202020204" pitchFamily="34" charset="0"/>
            </a:endParaRPr>
          </a:p>
        </p:txBody>
      </p:sp>
      <p:sp>
        <p:nvSpPr>
          <p:cNvPr id="102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1104900" y="1200150"/>
            <a:ext cx="7581900" cy="372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109;p13"/>
          <p:cNvSpPr txBox="1">
            <a:spLocks noGrp="1"/>
          </p:cNvSpPr>
          <p:nvPr>
            <p:ph type="ctrTitle"/>
          </p:nvPr>
        </p:nvSpPr>
        <p:spPr>
          <a:xfrm>
            <a:off x="1774613" y="87313"/>
            <a:ext cx="7369387" cy="1533525"/>
          </a:xfrm>
        </p:spPr>
        <p:txBody>
          <a:bodyPr/>
          <a:lstStyle/>
          <a:p>
            <a:pPr algn="r"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4400" dirty="0" err="1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IoT</a:t>
            </a:r>
            <a:r>
              <a:rPr lang="en-US" altLang="en-US" sz="4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  Real World Programmable </a:t>
            </a:r>
            <a:br>
              <a:rPr lang="en-US" altLang="en-US" sz="4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</a:br>
            <a:r>
              <a:rPr lang="en-US" altLang="en-US" sz="4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Blocks with AI</a:t>
            </a:r>
          </a:p>
        </p:txBody>
      </p:sp>
      <p:sp>
        <p:nvSpPr>
          <p:cNvPr id="4" name="Google Shape;116;p14">
            <a:extLst>
              <a:ext uri="{FF2B5EF4-FFF2-40B4-BE49-F238E27FC236}">
                <a16:creationId xmlns:a16="http://schemas.microsoft.com/office/drawing/2014/main" id="{C844FA54-17B8-4EF1-8EA2-267C77A6B012}"/>
              </a:ext>
            </a:extLst>
          </p:cNvPr>
          <p:cNvSpPr txBox="1">
            <a:spLocks/>
          </p:cNvSpPr>
          <p:nvPr/>
        </p:nvSpPr>
        <p:spPr>
          <a:xfrm>
            <a:off x="2502511" y="1325595"/>
            <a:ext cx="2762216" cy="2304296"/>
          </a:xfrm>
          <a:prstGeom prst="rect">
            <a:avLst/>
          </a:prstGeom>
        </p:spPr>
        <p:txBody>
          <a:bodyPr spcFirstLastPara="1" lIns="91425" tIns="91425" rIns="91425" bIns="91425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lnSpc>
                <a:spcPct val="200000"/>
              </a:lnSpc>
              <a:spcBef>
                <a:spcPts val="600"/>
              </a:spcBef>
              <a:defRPr/>
            </a:pPr>
            <a:r>
              <a:rPr lang="en-US" sz="2000" b="1" kern="0" dirty="0" smtClean="0">
                <a:solidFill>
                  <a:schemeClr val="bg1"/>
                </a:solidFill>
                <a:highlight>
                  <a:schemeClr val="accent1"/>
                </a:highlight>
                <a:latin typeface="Segoe UI Semilight" panose="020B0402040204020203" pitchFamily="34" charset="0"/>
                <a:cs typeface="Segoe UI Semilight" panose="020B0402040204020203" pitchFamily="34" charset="0"/>
              </a:rPr>
              <a:t> SUBMITTED BY : </a:t>
            </a:r>
          </a:p>
          <a:p>
            <a:pPr eaLnBrk="1" fontAlgn="auto" hangingPunct="1">
              <a:spcBef>
                <a:spcPts val="600"/>
              </a:spcBef>
              <a:defRPr/>
            </a:pPr>
            <a:r>
              <a:rPr lang="en-US" sz="2000" b="1" kern="0" dirty="0" smtClean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Al Sabid</a:t>
            </a:r>
          </a:p>
          <a:p>
            <a:pPr eaLnBrk="1" fontAlgn="auto" hangingPunct="1">
              <a:spcBef>
                <a:spcPts val="600"/>
              </a:spcBef>
              <a:defRPr/>
            </a:pPr>
            <a:r>
              <a:rPr lang="en-US" sz="1600" kern="0" dirty="0" smtClean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ID </a:t>
            </a:r>
            <a:r>
              <a:rPr lang="en-US" sz="1600" kern="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No: </a:t>
            </a:r>
            <a:r>
              <a:rPr lang="en-US" sz="1600" kern="0" dirty="0" smtClean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CSE202503053   Intake</a:t>
            </a:r>
            <a:r>
              <a:rPr lang="en-US" sz="1600" kern="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: Fall 2025 (</a:t>
            </a:r>
            <a:r>
              <a:rPr lang="en-US" sz="1600" kern="0" dirty="0" smtClean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Batch-39) Department </a:t>
            </a:r>
            <a:r>
              <a:rPr lang="en-US" sz="1600" kern="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 </a:t>
            </a:r>
            <a:r>
              <a:rPr lang="en-US" sz="1600" kern="0" dirty="0" smtClean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CSE, </a:t>
            </a:r>
            <a:r>
              <a:rPr lang="en-US" sz="1600" kern="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Jahangirnagar </a:t>
            </a:r>
            <a:r>
              <a:rPr lang="en-US" sz="1600" kern="0" dirty="0" smtClean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University</a:t>
            </a:r>
            <a:endParaRPr lang="en-US" sz="1600" kern="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AFEE37-A81A-4EE2-9CF6-26EB06AEEE51}"/>
              </a:ext>
            </a:extLst>
          </p:cNvPr>
          <p:cNvCxnSpPr>
            <a:cxnSpLocks/>
          </p:cNvCxnSpPr>
          <p:nvPr/>
        </p:nvCxnSpPr>
        <p:spPr>
          <a:xfrm>
            <a:off x="2090632" y="1620838"/>
            <a:ext cx="0" cy="19383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143;p18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Presentation Outlines</a:t>
            </a:r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1"/>
          </p:nvPr>
        </p:nvSpPr>
        <p:spPr>
          <a:xfrm>
            <a:off x="1104900" y="1101725"/>
            <a:ext cx="7581900" cy="3648075"/>
          </a:xfrm>
        </p:spPr>
        <p:txBody>
          <a:bodyPr/>
          <a:lstStyle/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Introduction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Existing System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Drawbacks of Existing System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Proposed System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Why it is preferable?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Applications of IoT Blocks 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H/W &amp; S/W Requirements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Methodology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Block Diagram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Circuit Design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16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E-R Diagram</a:t>
            </a:r>
          </a:p>
        </p:txBody>
      </p:sp>
      <p:sp>
        <p:nvSpPr>
          <p:cNvPr id="10244" name="Text Placeholder 1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smtClean="0">
                <a:ea typeface="Roboto" charset="0"/>
                <a:sym typeface="Roboto" charset="0"/>
              </a:rPr>
              <a:t>2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29619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70;p20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Introduction</a:t>
            </a:r>
          </a:p>
        </p:txBody>
      </p:sp>
      <p:sp>
        <p:nvSpPr>
          <p:cNvPr id="169" name="Google Shape;169;p20"/>
          <p:cNvSpPr txBox="1">
            <a:spLocks noGrp="1"/>
          </p:cNvSpPr>
          <p:nvPr>
            <p:ph type="body" idx="1"/>
          </p:nvPr>
        </p:nvSpPr>
        <p:spPr>
          <a:xfrm>
            <a:off x="1104900" y="1250830"/>
            <a:ext cx="7581900" cy="3217653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Aft>
                <a:spcPct val="0"/>
              </a:spcAft>
              <a:buClr>
                <a:schemeClr val="accent1"/>
              </a:buClr>
              <a:buFont typeface="Roboto" charset="0"/>
              <a:buNone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Building an </a:t>
            </a:r>
            <a:r>
              <a:rPr lang="en-US" altLang="en-US" sz="2000" dirty="0" err="1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IoT</a:t>
            </a: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 gadget requires a ton of knowledge, but with </a:t>
            </a:r>
            <a:r>
              <a:rPr lang="en-US" altLang="en-US" sz="2000" dirty="0" err="1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IoT</a:t>
            </a: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 Blocks there is no need for expertise in circuits or network programming. With an </a:t>
            </a:r>
            <a:r>
              <a:rPr lang="en-US" altLang="en-US" sz="2000" dirty="0" err="1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IoT</a:t>
            </a: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 block in every project, home, or office we can add smart features like motion sensitivity, remote control, orientation monitoring, voice commands, notifications, text messaging, and more.</a:t>
            </a:r>
          </a:p>
        </p:txBody>
      </p:sp>
      <p:sp>
        <p:nvSpPr>
          <p:cNvPr id="12292" name="Text Placeholder 1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smtClean="0">
                <a:ea typeface="Roboto" charset="0"/>
                <a:sym typeface="Roboto" charset="0"/>
              </a:rPr>
              <a:t>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Existing System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1104900" y="1277938"/>
            <a:ext cx="7581900" cy="3648075"/>
          </a:xfrm>
        </p:spPr>
        <p:txBody>
          <a:bodyPr/>
          <a:lstStyle/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err="1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IoT</a:t>
            </a: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 Smart Home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err="1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IoT</a:t>
            </a: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 in Agriculture Monitoring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Google Home Voice Controller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Amazon Dash Button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Smart door Lock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Air Quality Monito</a:t>
            </a:r>
            <a:r>
              <a:rPr lang="en-US" altLang="en-US" sz="3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r</a:t>
            </a:r>
          </a:p>
        </p:txBody>
      </p:sp>
      <p:sp>
        <p:nvSpPr>
          <p:cNvPr id="14340" name="Text Placeholder 8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smtClean="0">
                <a:ea typeface="Roboto" charset="0"/>
                <a:sym typeface="Roboto" charset="0"/>
              </a:rPr>
              <a:t>4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Drawbacks of Existing System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104900" y="1277938"/>
            <a:ext cx="7581900" cy="3648075"/>
          </a:xfrm>
        </p:spPr>
        <p:txBody>
          <a:bodyPr/>
          <a:lstStyle/>
          <a:p>
            <a:pPr algn="just"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The major problem of </a:t>
            </a:r>
            <a:r>
              <a:rPr lang="en-US" altLang="en-US" sz="2400" dirty="0" err="1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IoT</a:t>
            </a: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 devices is that they are totally independent, that’s mean each device always performs a specific predefined task.</a:t>
            </a:r>
          </a:p>
          <a:p>
            <a:pPr algn="just"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Fewer configurable options.</a:t>
            </a:r>
          </a:p>
          <a:p>
            <a:pPr algn="just"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For multiple tasks, need multiple apps.</a:t>
            </a:r>
          </a:p>
          <a:p>
            <a:pPr algn="just"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Customization in device function aren’t allowed.</a:t>
            </a:r>
          </a:p>
          <a:p>
            <a:pPr algn="just"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endParaRPr lang="en-US" altLang="en-US" sz="2800" dirty="0" smtClean="0">
              <a:solidFill>
                <a:srgbClr val="222222"/>
              </a:solidFill>
              <a:latin typeface="Segoe UI Semilight" panose="020B0402040204020203" pitchFamily="34" charset="0"/>
              <a:ea typeface="Roboto" charset="0"/>
              <a:cs typeface="Segoe UI Semilight" panose="020B0402040204020203" pitchFamily="34" charset="0"/>
              <a:sym typeface="Roboto" charset="0"/>
            </a:endParaRPr>
          </a:p>
        </p:txBody>
      </p:sp>
      <p:sp>
        <p:nvSpPr>
          <p:cNvPr id="15364" name="Text Placeholder 5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smtClean="0">
                <a:ea typeface="Roboto" charset="0"/>
                <a:sym typeface="Roboto" charset="0"/>
              </a:rPr>
              <a:t>5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Proposed </a:t>
            </a: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System 1/3</a:t>
            </a:r>
            <a:endParaRPr lang="en-US" altLang="en-US" sz="2400" dirty="0" smtClean="0">
              <a:solidFill>
                <a:srgbClr val="FFFFFF"/>
              </a:solidFill>
              <a:latin typeface="Dosis" panose="02010703020202060003" pitchFamily="2" charset="0"/>
              <a:cs typeface="Arial" panose="020B0604020202020204" pitchFamily="34" charset="0"/>
              <a:sym typeface="Dosis" panose="02010703020202060003" pitchFamily="2" charset="0"/>
            </a:endParaRP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104900" y="1277938"/>
            <a:ext cx="7581900" cy="3648075"/>
          </a:xfrm>
        </p:spPr>
        <p:txBody>
          <a:bodyPr/>
          <a:lstStyle/>
          <a:p>
            <a:pPr algn="just"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Developing few tiny portable blocks that are directly connected to the server and can use them from a central computer by programming for any kind of logical expression.</a:t>
            </a:r>
          </a:p>
        </p:txBody>
      </p:sp>
      <p:sp>
        <p:nvSpPr>
          <p:cNvPr id="16388" name="Text Placeholder 2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smtClean="0">
                <a:ea typeface="Roboto" charset="0"/>
                <a:sym typeface="Roboto" charset="0"/>
              </a:rPr>
              <a:t>6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Proposed System </a:t>
            </a: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2/3</a:t>
            </a:r>
            <a:endParaRPr lang="en-US" altLang="en-US" sz="2400" dirty="0" smtClean="0">
              <a:solidFill>
                <a:srgbClr val="FFFFFF"/>
              </a:solidFill>
              <a:latin typeface="Dosis" panose="02010703020202060003" pitchFamily="2" charset="0"/>
              <a:cs typeface="Arial" panose="020B0604020202020204" pitchFamily="34" charset="0"/>
              <a:sym typeface="Dosis" panose="02010703020202060003" pitchFamily="2" charset="0"/>
            </a:endParaRP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104900" y="1277938"/>
            <a:ext cx="7581900" cy="3648075"/>
          </a:xfrm>
        </p:spPr>
        <p:txBody>
          <a:bodyPr/>
          <a:lstStyle/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3000" dirty="0" err="1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IoT</a:t>
            </a:r>
            <a:r>
              <a:rPr lang="en-US" altLang="en-US" sz="3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 Blocks are consist of five sections: 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Input device blocks (Buttons, Temperature, Motion etc.). 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Output device blocks (LED, Buzzer etc.). 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Python Module. 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Server-side API.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Database.</a:t>
            </a:r>
          </a:p>
        </p:txBody>
      </p:sp>
      <p:sp>
        <p:nvSpPr>
          <p:cNvPr id="17412" name="Text Placeholder 2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smtClean="0">
                <a:ea typeface="Roboto" charset="0"/>
                <a:sym typeface="Roboto" charset="0"/>
              </a:rPr>
              <a:t>7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Proposed System </a:t>
            </a: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3/3</a:t>
            </a:r>
            <a:endParaRPr lang="en-US" altLang="en-US" sz="2400" dirty="0" smtClean="0">
              <a:solidFill>
                <a:srgbClr val="FFFFFF"/>
              </a:solidFill>
              <a:latin typeface="Dosis" panose="02010703020202060003" pitchFamily="2" charset="0"/>
              <a:cs typeface="Arial" panose="020B0604020202020204" pitchFamily="34" charset="0"/>
              <a:sym typeface="Dosis" panose="02010703020202060003" pitchFamily="2" charset="0"/>
            </a:endParaRPr>
          </a:p>
        </p:txBody>
      </p:sp>
      <p:sp>
        <p:nvSpPr>
          <p:cNvPr id="18435" name="Text Placeholder 3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smtClean="0">
                <a:ea typeface="Roboto" charset="0"/>
                <a:sym typeface="Roboto" charset="0"/>
              </a:rPr>
              <a:t>8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4" t="44444" r="9804" b="4837"/>
          <a:stretch>
            <a:fillRect/>
          </a:stretch>
        </p:blipFill>
        <p:spPr bwMode="auto">
          <a:xfrm>
            <a:off x="1104900" y="1158875"/>
            <a:ext cx="3495675" cy="1654175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6" t="1569" r="14706" b="56078"/>
          <a:stretch>
            <a:fillRect/>
          </a:stretch>
        </p:blipFill>
        <p:spPr bwMode="auto">
          <a:xfrm>
            <a:off x="4181475" y="2813050"/>
            <a:ext cx="4494213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rrow: Bent 10">
            <a:extLst>
              <a:ext uri="{FF2B5EF4-FFF2-40B4-BE49-F238E27FC236}">
                <a16:creationId xmlns:a16="http://schemas.microsoft.com/office/drawing/2014/main" id="{33363F0E-D33F-4D26-A34A-BF595D187EB0}"/>
              </a:ext>
            </a:extLst>
          </p:cNvPr>
          <p:cNvSpPr/>
          <p:nvPr/>
        </p:nvSpPr>
        <p:spPr>
          <a:xfrm rot="5400000">
            <a:off x="5339557" y="1229519"/>
            <a:ext cx="842962" cy="1733550"/>
          </a:xfrm>
          <a:prstGeom prst="ben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kern="0">
              <a:solidFill>
                <a:schemeClr val="tx1"/>
              </a:solidFill>
              <a:sym typeface="Arial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Why it is preferable</a:t>
            </a: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? 1/2</a:t>
            </a:r>
            <a:endParaRPr lang="en-US" altLang="en-US" sz="2400" dirty="0" smtClean="0">
              <a:solidFill>
                <a:srgbClr val="FFFFFF"/>
              </a:solidFill>
              <a:latin typeface="Dosis" panose="02010703020202060003" pitchFamily="2" charset="0"/>
              <a:cs typeface="Arial" panose="020B0604020202020204" pitchFamily="34" charset="0"/>
              <a:sym typeface="Dosis" panose="02010703020202060003" pitchFamily="2" charset="0"/>
            </a:endParaRP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104900" y="1277938"/>
            <a:ext cx="7581900" cy="3648075"/>
          </a:xfrm>
        </p:spPr>
        <p:txBody>
          <a:bodyPr/>
          <a:lstStyle/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Easily can integrate to any environment.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Can apply any logical expression, iteration.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Blocks can be used as single or combined together.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Can be re-programmed on demand.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Its Increases productivity of our daily life. 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Teaching programming logics easily to high school students.</a:t>
            </a:r>
          </a:p>
        </p:txBody>
      </p:sp>
      <p:sp>
        <p:nvSpPr>
          <p:cNvPr id="19460" name="Text Placeholder 2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smtClean="0">
                <a:ea typeface="Roboto" charset="0"/>
                <a:sym typeface="Roboto" charset="0"/>
              </a:rPr>
              <a:t>9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Why it is preferable? </a:t>
            </a: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2/</a:t>
            </a: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2</a:t>
            </a:r>
            <a:endParaRPr lang="en-US" altLang="en-US" sz="2400" dirty="0" smtClean="0">
              <a:solidFill>
                <a:srgbClr val="FFFFFF"/>
              </a:solidFill>
              <a:latin typeface="Dosis" panose="02010703020202060003" pitchFamily="2" charset="0"/>
              <a:cs typeface="Arial" panose="020B0604020202020204" pitchFamily="34" charset="0"/>
              <a:sym typeface="Dosis" panose="02010703020202060003" pitchFamily="2" charset="0"/>
            </a:endParaRP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050925" y="1255713"/>
            <a:ext cx="7581900" cy="3649662"/>
          </a:xfrm>
        </p:spPr>
        <p:txBody>
          <a:bodyPr/>
          <a:lstStyle/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Simplify large tasks into smaller. 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This is very useful for security system in home and office.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Replacement for current smart home automation devices. 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40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No limitation of use. </a:t>
            </a:r>
          </a:p>
        </p:txBody>
      </p:sp>
      <p:sp>
        <p:nvSpPr>
          <p:cNvPr id="20484" name="Text Placeholder 2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smtClean="0">
                <a:ea typeface="Roboto" charset="0"/>
                <a:sym typeface="Roboto" charset="0"/>
              </a:rPr>
              <a:t>10</a:t>
            </a:r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Traditional vs  Programmable </a:t>
            </a:r>
            <a:r>
              <a:rPr lang="en-US" altLang="en-US" sz="2400" dirty="0" err="1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IoT</a:t>
            </a: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 </a:t>
            </a:r>
            <a:r>
              <a:rPr lang="en-US" altLang="en-US" sz="2400" dirty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Blocks: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dirty="0">
                <a:ea typeface="Roboto" charset="0"/>
                <a:sym typeface="Roboto" charset="0"/>
              </a:rPr>
              <a:t>11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557567"/>
              </p:ext>
            </p:extLst>
          </p:nvPr>
        </p:nvGraphicFramePr>
        <p:xfrm>
          <a:off x="1104900" y="1176461"/>
          <a:ext cx="7650911" cy="3533564"/>
        </p:xfrm>
        <a:graphic>
          <a:graphicData uri="http://schemas.openxmlformats.org/drawingml/2006/table">
            <a:tbl>
              <a:tblPr firstRow="1" firstCol="1" bandRow="1">
                <a:tableStyleId>{284E427A-3D55-4303-BF80-6455036E1DE7}</a:tableStyleId>
              </a:tblPr>
              <a:tblGrid>
                <a:gridCol w="1655553">
                  <a:extLst>
                    <a:ext uri="{9D8B030D-6E8A-4147-A177-3AD203B41FA5}">
                      <a16:colId xmlns:a16="http://schemas.microsoft.com/office/drawing/2014/main" val="9778541"/>
                    </a:ext>
                  </a:extLst>
                </a:gridCol>
                <a:gridCol w="2993366">
                  <a:extLst>
                    <a:ext uri="{9D8B030D-6E8A-4147-A177-3AD203B41FA5}">
                      <a16:colId xmlns:a16="http://schemas.microsoft.com/office/drawing/2014/main" val="1365534698"/>
                    </a:ext>
                  </a:extLst>
                </a:gridCol>
                <a:gridCol w="3001992">
                  <a:extLst>
                    <a:ext uri="{9D8B030D-6E8A-4147-A177-3AD203B41FA5}">
                      <a16:colId xmlns:a16="http://schemas.microsoft.com/office/drawing/2014/main" val="3357602330"/>
                    </a:ext>
                  </a:extLst>
                </a:gridCol>
              </a:tblGrid>
              <a:tr h="6991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  <a:effectLst/>
                        </a:rPr>
                        <a:t>Feature</a:t>
                      </a:r>
                      <a:endParaRPr lang="en-US" sz="1600" dirty="0">
                        <a:solidFill>
                          <a:schemeClr val="accent3"/>
                        </a:solidFill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  <a:effectLst/>
                        </a:rPr>
                        <a:t>Traditional </a:t>
                      </a:r>
                      <a:r>
                        <a:rPr lang="en-US" sz="1600" dirty="0" err="1">
                          <a:solidFill>
                            <a:schemeClr val="accent3"/>
                          </a:solidFill>
                          <a:effectLst/>
                        </a:rPr>
                        <a:t>IoT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effectLst/>
                        </a:rPr>
                        <a:t> Frameworks</a:t>
                      </a:r>
                      <a:endParaRPr lang="en-US" sz="1600" dirty="0">
                        <a:solidFill>
                          <a:schemeClr val="accent3"/>
                        </a:solidFill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  <a:effectLst/>
                        </a:rPr>
                        <a:t>Programmable </a:t>
                      </a:r>
                      <a:r>
                        <a:rPr lang="en-US" sz="1600" dirty="0" err="1" smtClean="0">
                          <a:solidFill>
                            <a:schemeClr val="accent3"/>
                          </a:solidFill>
                          <a:effectLst/>
                        </a:rPr>
                        <a:t>IoT</a:t>
                      </a:r>
                      <a:r>
                        <a:rPr lang="en-US" sz="1600" baseline="0" dirty="0" smtClean="0">
                          <a:solidFill>
                            <a:schemeClr val="accent3"/>
                          </a:solidFill>
                          <a:effectLst/>
                        </a:rPr>
                        <a:t> AI</a:t>
                      </a:r>
                      <a:r>
                        <a:rPr lang="en-US" sz="1600" dirty="0" smtClean="0">
                          <a:solidFill>
                            <a:schemeClr val="accent3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effectLst/>
                        </a:rPr>
                        <a:t>Blocks</a:t>
                      </a:r>
                      <a:endParaRPr lang="en-US" sz="1600" dirty="0">
                        <a:solidFill>
                          <a:schemeClr val="accent3"/>
                        </a:solidFill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56989703"/>
                  </a:ext>
                </a:extLst>
              </a:tr>
              <a:tr h="7086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Interface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Hardcoded C++/Python &amp; Circuitry 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Drag and Drop</a:t>
                      </a:r>
                      <a:r>
                        <a:rPr lang="en-US" sz="1600" baseline="0" dirty="0" smtClean="0">
                          <a:effectLst/>
                        </a:rPr>
                        <a:t> / </a:t>
                      </a:r>
                      <a:r>
                        <a:rPr lang="en-US" sz="1600" dirty="0" smtClean="0">
                          <a:effectLst/>
                        </a:rPr>
                        <a:t>Natural </a:t>
                      </a:r>
                      <a:r>
                        <a:rPr lang="en-US" sz="1600" dirty="0">
                          <a:effectLst/>
                        </a:rPr>
                        <a:t>Language (AI </a:t>
                      </a:r>
                      <a:r>
                        <a:rPr lang="en-US" sz="1600" dirty="0" err="1">
                          <a:effectLst/>
                        </a:rPr>
                        <a:t>Chatbot</a:t>
                      </a:r>
                      <a:r>
                        <a:rPr lang="en-US" sz="1600" dirty="0">
                          <a:effectLst/>
                        </a:rPr>
                        <a:t>) 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54267133"/>
                  </a:ext>
                </a:extLst>
              </a:tr>
              <a:tr h="7086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Hardware Setup</a:t>
                      </a:r>
                      <a:endParaRPr lang="en-US" sz="160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Point-to-point </a:t>
                      </a:r>
                      <a:r>
                        <a:rPr lang="en-US" sz="1600" dirty="0" smtClean="0">
                          <a:effectLst/>
                        </a:rPr>
                        <a:t>soldering</a:t>
                      </a:r>
                      <a:r>
                        <a:rPr lang="en-US" sz="1600" baseline="0" dirty="0" smtClean="0">
                          <a:effectLst/>
                        </a:rPr>
                        <a:t> &amp; fixed model. 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Modular, reusable physical blocks 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25258777"/>
                  </a:ext>
                </a:extLst>
              </a:tr>
              <a:tr h="7086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Target User</a:t>
                      </a:r>
                      <a:endParaRPr lang="en-US" sz="160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Engineers &amp; Developers 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Anyone </a:t>
                      </a:r>
                      <a:r>
                        <a:rPr lang="en-US" sz="1600" dirty="0" smtClean="0">
                          <a:effectLst/>
                        </a:rPr>
                        <a:t>(Students, </a:t>
                      </a:r>
                      <a:r>
                        <a:rPr lang="en-US" sz="1600" dirty="0">
                          <a:effectLst/>
                        </a:rPr>
                        <a:t>homeowners) 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04407813"/>
                  </a:ext>
                </a:extLst>
              </a:tr>
              <a:tr h="7086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Reusability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Hardwired for a single, specific task 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Dynamically re-programmable on demand </a:t>
                      </a:r>
                      <a:endParaRPr lang="en-US" sz="1600" dirty="0">
                        <a:effectLst/>
                        <a:latin typeface="Segoe UI Semilight" panose="020B0402040204020203" pitchFamily="34" charset="0"/>
                        <a:ea typeface="Calibri" panose="020F050202020403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1493076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4326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Some Applications of Programmable </a:t>
            </a:r>
            <a:r>
              <a:rPr lang="en-US" altLang="en-US" sz="2400" dirty="0" err="1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IoT</a:t>
            </a: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 Blocks: 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1104900" y="1277938"/>
            <a:ext cx="7581900" cy="3648075"/>
          </a:xfrm>
        </p:spPr>
        <p:txBody>
          <a:bodyPr/>
          <a:lstStyle/>
          <a:p>
            <a:pPr marL="552450" indent="-514350" eaLnBrk="1" hangingPunct="1"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AutoNum type="arabicPeriod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Home </a:t>
            </a:r>
            <a:r>
              <a:rPr lang="en-US" altLang="en-US" sz="2400" dirty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Automation </a:t>
            </a:r>
            <a:endParaRPr lang="en-US" altLang="en-US" sz="2400" dirty="0" smtClean="0">
              <a:solidFill>
                <a:srgbClr val="222222"/>
              </a:solidFill>
              <a:latin typeface="Segoe UI Semilight" panose="020B0402040204020203" pitchFamily="34" charset="0"/>
              <a:ea typeface="Roboto" charset="0"/>
              <a:cs typeface="Segoe UI Semilight" panose="020B0402040204020203" pitchFamily="34" charset="0"/>
              <a:sym typeface="Roboto" charset="0"/>
            </a:endParaRPr>
          </a:p>
          <a:p>
            <a:pPr marL="552450" indent="-514350" eaLnBrk="1" hangingPunct="1"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AutoNum type="arabicPeriod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Agriculture Automation </a:t>
            </a:r>
          </a:p>
          <a:p>
            <a:pPr marL="552450" indent="-514350" eaLnBrk="1" hangingPunct="1"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Agro </a:t>
            </a: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Automation</a:t>
            </a:r>
          </a:p>
          <a:p>
            <a:pPr marL="552450" indent="-514350" eaLnBrk="1" hangingPunct="1"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AutoNum type="arabicPeriod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Factory/Office Automation</a:t>
            </a:r>
            <a:endParaRPr lang="en-US" altLang="en-US" sz="2400" dirty="0">
              <a:solidFill>
                <a:srgbClr val="222222"/>
              </a:solidFill>
              <a:latin typeface="Segoe UI Semilight" panose="020B0402040204020203" pitchFamily="34" charset="0"/>
              <a:ea typeface="Roboto" charset="0"/>
              <a:cs typeface="Segoe UI Semilight" panose="020B0402040204020203" pitchFamily="34" charset="0"/>
              <a:sym typeface="Roboto" charset="0"/>
            </a:endParaRPr>
          </a:p>
          <a:p>
            <a:pPr marL="552450" indent="-514350" eaLnBrk="1" hangingPunct="1"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AutoNum type="arabicPeriod"/>
            </a:pPr>
            <a:r>
              <a:rPr lang="en-US" altLang="en-US" sz="24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Traffic Automation</a:t>
            </a:r>
          </a:p>
        </p:txBody>
      </p:sp>
      <p:sp>
        <p:nvSpPr>
          <p:cNvPr id="21508" name="Text Placeholder 3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dirty="0" smtClean="0">
                <a:ea typeface="Roboto" charset="0"/>
                <a:sym typeface="Roboto" charset="0"/>
              </a:rPr>
              <a:t>12</a:t>
            </a: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ea typeface="Dosis" panose="02010703020202060003" pitchFamily="2" charset="0"/>
                <a:cs typeface="Segoe UI Semilight" panose="020B0402040204020203" pitchFamily="34" charset="0"/>
                <a:sym typeface="Dosis" panose="02010703020202060003" pitchFamily="2" charset="0"/>
              </a:rPr>
              <a:t>Real-World application: Smart property automation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13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3" t="15104" r="3568" b="5145"/>
          <a:stretch/>
        </p:blipFill>
        <p:spPr>
          <a:xfrm>
            <a:off x="1239981" y="1183485"/>
            <a:ext cx="6830291" cy="3383027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1917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 txBox="1">
            <a:spLocks noGrp="1"/>
          </p:cNvSpPr>
          <p:nvPr>
            <p:ph type="title"/>
          </p:nvPr>
        </p:nvSpPr>
        <p:spPr>
          <a:xfrm>
            <a:off x="1101725" y="273050"/>
            <a:ext cx="7573963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Dosis" panose="02010703020202060003" pitchFamily="2" charset="0"/>
                <a:ea typeface="Dosis" panose="02010703020202060003" pitchFamily="2" charset="0"/>
                <a:cs typeface="Segoe UI Semilight" panose="020B0402040204020203" pitchFamily="34" charset="0"/>
                <a:sym typeface="Dosis" panose="02010703020202060003" pitchFamily="2" charset="0"/>
              </a:rPr>
              <a:t>H/W &amp; S/W Requirements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1101725" y="1311275"/>
            <a:ext cx="3681413" cy="3538538"/>
          </a:xfrm>
        </p:spPr>
        <p:txBody>
          <a:bodyPr/>
          <a:lstStyle/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Hardware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ESP8266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Button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Resistors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AMS1117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Buzzer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DHT11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LED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Relay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5005388" y="1311275"/>
            <a:ext cx="3681412" cy="3538538"/>
          </a:xfrm>
        </p:spPr>
        <p:txBody>
          <a:bodyPr/>
          <a:lstStyle/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Software / PL</a:t>
            </a:r>
            <a:endParaRPr lang="en-US" altLang="en-US" sz="2000" dirty="0" smtClean="0">
              <a:solidFill>
                <a:srgbClr val="222222"/>
              </a:solidFill>
              <a:latin typeface="Segoe UI Semilight" panose="020B0402040204020203" pitchFamily="34" charset="0"/>
              <a:ea typeface="Roboto" charset="0"/>
              <a:cs typeface="Segoe UI Semilight" panose="020B0402040204020203" pitchFamily="34" charset="0"/>
              <a:sym typeface="Roboto" charset="0"/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Arduino IDE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Python</a:t>
            </a:r>
            <a:endParaRPr lang="en-US" altLang="en-US" sz="2000" dirty="0" smtClean="0">
              <a:solidFill>
                <a:srgbClr val="222222"/>
              </a:solidFill>
              <a:latin typeface="Segoe UI Semilight" panose="020B0402040204020203" pitchFamily="34" charset="0"/>
              <a:ea typeface="Roboto" charset="0"/>
              <a:cs typeface="Segoe UI Semilight" panose="020B0402040204020203" pitchFamily="34" charset="0"/>
              <a:sym typeface="Roboto" charset="0"/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PHP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MySQL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Fusion 360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Proteus 8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Roboto" charset="0"/>
              <a:buChar char="▹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Easy EDA</a:t>
            </a:r>
          </a:p>
        </p:txBody>
      </p:sp>
      <p:sp>
        <p:nvSpPr>
          <p:cNvPr id="22533" name="Text Placeholder 4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dirty="0" smtClean="0">
                <a:ea typeface="Roboto" charset="0"/>
                <a:sym typeface="Roboto" charset="0"/>
              </a:rPr>
              <a:t>14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FFFFFF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Anatomy of a programmable block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15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 t="14297" r="2145" b="3776"/>
          <a:stretch/>
        </p:blipFill>
        <p:spPr>
          <a:xfrm>
            <a:off x="1440610" y="1190445"/>
            <a:ext cx="6702725" cy="3500977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7968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FFFFFF"/>
                </a:solidFill>
                <a:latin typeface="Dosis" panose="02010703020202060003" pitchFamily="2" charset="0"/>
                <a:ea typeface="Dosis" panose="02010703020202060003" pitchFamily="2" charset="0"/>
                <a:cs typeface="Segoe UI Semilight" panose="020B0402040204020203" pitchFamily="34" charset="0"/>
                <a:sym typeface="Dosis" panose="02010703020202060003" pitchFamily="2" charset="0"/>
              </a:rPr>
              <a:t>The brain of the block: ESP8266-12E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16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9248" r="4014" b="9887"/>
          <a:stretch/>
        </p:blipFill>
        <p:spPr>
          <a:xfrm>
            <a:off x="1101386" y="1302590"/>
            <a:ext cx="7686135" cy="3330275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711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 txBox="1">
            <a:spLocks noGrp="1"/>
          </p:cNvSpPr>
          <p:nvPr>
            <p:ph type="title"/>
          </p:nvPr>
        </p:nvSpPr>
        <p:spPr>
          <a:xfrm>
            <a:off x="1104900" y="276225"/>
            <a:ext cx="6724650" cy="7493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Font typeface="Dosis" panose="02010703020202060003" pitchFamily="2" charset="0"/>
              <a:buNone/>
            </a:pPr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ea typeface="Dosis" panose="02010703020202060003" pitchFamily="2" charset="0"/>
                <a:cs typeface="Segoe UI Semilight" panose="020B0402040204020203" pitchFamily="34" charset="0"/>
                <a:sym typeface="Dosis" panose="02010703020202060003" pitchFamily="2" charset="0"/>
              </a:rPr>
              <a:t>Methodology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1104900" y="1277938"/>
            <a:ext cx="7581900" cy="3648075"/>
          </a:xfrm>
        </p:spPr>
        <p:txBody>
          <a:bodyPr/>
          <a:lstStyle/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We use MySQL as a database.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Programming </a:t>
            </a: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languages </a:t>
            </a: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Python, PHP are used generally.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Arduino IDE for hardware level programming</a:t>
            </a: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.</a:t>
            </a:r>
            <a:endParaRPr lang="en-US" altLang="en-US" sz="2000" dirty="0" smtClean="0">
              <a:solidFill>
                <a:srgbClr val="222222"/>
              </a:solidFill>
              <a:latin typeface="Segoe UI Semilight" panose="020B0402040204020203" pitchFamily="34" charset="0"/>
              <a:ea typeface="Roboto" charset="0"/>
              <a:cs typeface="Segoe UI Semilight" panose="020B0402040204020203" pitchFamily="34" charset="0"/>
              <a:sym typeface="Roboto" charset="0"/>
            </a:endParaRP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3D modelling with fusion 360.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3D prototype casing printing.</a:t>
            </a:r>
          </a:p>
          <a:p>
            <a:pPr eaLnBrk="1" hangingPunct="1">
              <a:spcAft>
                <a:spcPct val="0"/>
              </a:spcAft>
              <a:buClr>
                <a:schemeClr val="accent1"/>
              </a:buClr>
              <a:buFont typeface="Roboto" charset="0"/>
              <a:buChar char="▸"/>
            </a:pPr>
            <a:r>
              <a:rPr lang="en-US" altLang="en-US" sz="2000" dirty="0" smtClean="0">
                <a:solidFill>
                  <a:srgbClr val="222222"/>
                </a:solidFill>
                <a:latin typeface="Segoe UI Semilight" panose="020B0402040204020203" pitchFamily="34" charset="0"/>
                <a:ea typeface="Roboto" charset="0"/>
                <a:cs typeface="Segoe UI Semilight" panose="020B0402040204020203" pitchFamily="34" charset="0"/>
                <a:sym typeface="Roboto" charset="0"/>
              </a:rPr>
              <a:t>API development using lumens framework. </a:t>
            </a:r>
          </a:p>
        </p:txBody>
      </p:sp>
      <p:sp>
        <p:nvSpPr>
          <p:cNvPr id="23556" name="Text Placeholder 3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dirty="0" smtClean="0">
                <a:ea typeface="Roboto" charset="0"/>
                <a:sym typeface="Roboto" charset="0"/>
              </a:rPr>
              <a:t>17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276075"/>
            <a:ext cx="6930736" cy="749100"/>
          </a:xfrm>
        </p:spPr>
        <p:txBody>
          <a:bodyPr/>
          <a:lstStyle/>
          <a:p>
            <a:r>
              <a:rPr lang="en-US" altLang="en-US" sz="2400" dirty="0" smtClean="0">
                <a:solidFill>
                  <a:srgbClr val="FFFFFF"/>
                </a:solidFill>
                <a:latin typeface="Dosis" panose="02010703020202060003" pitchFamily="2" charset="0"/>
                <a:ea typeface="Dosis" panose="02010703020202060003" pitchFamily="2" charset="0"/>
                <a:cs typeface="Segoe UI Semilight" panose="020B0402040204020203" pitchFamily="34" charset="0"/>
                <a:sym typeface="Dosis" panose="02010703020202060003" pitchFamily="2" charset="0"/>
              </a:rPr>
              <a:t>The data pipeline: From chat to physical action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18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3" t="19001" r="3871" b="14472"/>
          <a:stretch/>
        </p:blipFill>
        <p:spPr>
          <a:xfrm>
            <a:off x="862445" y="1246909"/>
            <a:ext cx="7742638" cy="3138055"/>
          </a:xfrm>
          <a:prstGeom prst="rect">
            <a:avLst/>
          </a:prstGeo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255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3"/>
          <p:cNvSpPr txBox="1">
            <a:spLocks noChangeArrowheads="1"/>
          </p:cNvSpPr>
          <p:nvPr/>
        </p:nvSpPr>
        <p:spPr bwMode="auto">
          <a:xfrm>
            <a:off x="839788" y="4437063"/>
            <a:ext cx="2246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Dosis" panose="02010703020202060003" pitchFamily="2" charset="0"/>
              </a:rPr>
              <a:t>Block Diagram</a:t>
            </a:r>
          </a:p>
        </p:txBody>
      </p:sp>
      <p:pic>
        <p:nvPicPr>
          <p:cNvPr id="24579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96838"/>
            <a:ext cx="4773613" cy="45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Placeholder 1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dirty="0" smtClean="0">
                <a:ea typeface="Roboto" charset="0"/>
                <a:sym typeface="Roboto" charset="0"/>
              </a:rPr>
              <a:t>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400AE4-EBDF-4BC5-AFA3-BB76DF332D9D}"/>
              </a:ext>
            </a:extLst>
          </p:cNvPr>
          <p:cNvSpPr/>
          <p:nvPr/>
        </p:nvSpPr>
        <p:spPr>
          <a:xfrm>
            <a:off x="3086100" y="147638"/>
            <a:ext cx="1990725" cy="86042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kern="0"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14362-7593-4F60-874A-FC2EA0FC3BBF}"/>
              </a:ext>
            </a:extLst>
          </p:cNvPr>
          <p:cNvSpPr/>
          <p:nvPr/>
        </p:nvSpPr>
        <p:spPr>
          <a:xfrm>
            <a:off x="3086100" y="1041400"/>
            <a:ext cx="1990725" cy="86201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kern="0"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106EA2-44FF-4E84-BFE4-BE8958ABBD34}"/>
              </a:ext>
            </a:extLst>
          </p:cNvPr>
          <p:cNvSpPr/>
          <p:nvPr/>
        </p:nvSpPr>
        <p:spPr>
          <a:xfrm>
            <a:off x="3086100" y="1933575"/>
            <a:ext cx="1990725" cy="86042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kern="0"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B10AAD-5BB6-48A8-8ED1-D1194480642F}"/>
              </a:ext>
            </a:extLst>
          </p:cNvPr>
          <p:cNvSpPr/>
          <p:nvPr/>
        </p:nvSpPr>
        <p:spPr>
          <a:xfrm>
            <a:off x="3086100" y="2836863"/>
            <a:ext cx="1990725" cy="86042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kern="0">
              <a:sym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75EB97-2B5C-4FD2-B169-A2880D9EFF77}"/>
              </a:ext>
            </a:extLst>
          </p:cNvPr>
          <p:cNvSpPr/>
          <p:nvPr/>
        </p:nvSpPr>
        <p:spPr>
          <a:xfrm>
            <a:off x="3090863" y="3738563"/>
            <a:ext cx="1989137" cy="86042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kern="0">
              <a:sym typeface="Arial"/>
            </a:endParaRPr>
          </a:p>
        </p:txBody>
      </p:sp>
      <p:sp>
        <p:nvSpPr>
          <p:cNvPr id="24586" name="TextBox 11"/>
          <p:cNvSpPr txBox="1">
            <a:spLocks noChangeArrowheads="1"/>
          </p:cNvSpPr>
          <p:nvPr/>
        </p:nvSpPr>
        <p:spPr bwMode="auto">
          <a:xfrm>
            <a:off x="3167063" y="184150"/>
            <a:ext cx="7461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Block 01</a:t>
            </a:r>
          </a:p>
        </p:txBody>
      </p:sp>
      <p:sp>
        <p:nvSpPr>
          <p:cNvPr id="24587" name="TextBox 12"/>
          <p:cNvSpPr txBox="1">
            <a:spLocks noChangeArrowheads="1"/>
          </p:cNvSpPr>
          <p:nvPr/>
        </p:nvSpPr>
        <p:spPr bwMode="auto">
          <a:xfrm>
            <a:off x="3167063" y="1092200"/>
            <a:ext cx="728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Block 02</a:t>
            </a:r>
          </a:p>
        </p:txBody>
      </p:sp>
      <p:sp>
        <p:nvSpPr>
          <p:cNvPr id="24588" name="TextBox 13"/>
          <p:cNvSpPr txBox="1">
            <a:spLocks noChangeArrowheads="1"/>
          </p:cNvSpPr>
          <p:nvPr/>
        </p:nvSpPr>
        <p:spPr bwMode="auto">
          <a:xfrm>
            <a:off x="3167063" y="1966913"/>
            <a:ext cx="728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Block 03</a:t>
            </a:r>
          </a:p>
        </p:txBody>
      </p:sp>
      <p:sp>
        <p:nvSpPr>
          <p:cNvPr id="24589" name="TextBox 14"/>
          <p:cNvSpPr txBox="1">
            <a:spLocks noChangeArrowheads="1"/>
          </p:cNvSpPr>
          <p:nvPr/>
        </p:nvSpPr>
        <p:spPr bwMode="auto">
          <a:xfrm>
            <a:off x="3167063" y="2863850"/>
            <a:ext cx="728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Block 04</a:t>
            </a:r>
          </a:p>
        </p:txBody>
      </p:sp>
      <p:sp>
        <p:nvSpPr>
          <p:cNvPr id="24590" name="TextBox 15"/>
          <p:cNvSpPr txBox="1">
            <a:spLocks noChangeArrowheads="1"/>
          </p:cNvSpPr>
          <p:nvPr/>
        </p:nvSpPr>
        <p:spPr bwMode="auto">
          <a:xfrm>
            <a:off x="3167063" y="3767138"/>
            <a:ext cx="6778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Block N</a:t>
            </a:r>
          </a:p>
        </p:txBody>
      </p:sp>
      <p:sp>
        <p:nvSpPr>
          <p:cNvPr id="1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3"/>
          <p:cNvSpPr txBox="1">
            <a:spLocks noChangeArrowheads="1"/>
          </p:cNvSpPr>
          <p:nvPr/>
        </p:nvSpPr>
        <p:spPr bwMode="auto">
          <a:xfrm>
            <a:off x="839788" y="4437063"/>
            <a:ext cx="2246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Dosis" panose="02010703020202060003" pitchFamily="2" charset="0"/>
              </a:rPr>
              <a:t>E-R Diagram</a:t>
            </a:r>
          </a:p>
        </p:txBody>
      </p:sp>
      <p:pic>
        <p:nvPicPr>
          <p:cNvPr id="28675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915988"/>
            <a:ext cx="5211763" cy="300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Placeholder 1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r>
              <a:rPr lang="en-US" altLang="en-US" dirty="0" smtClean="0">
                <a:ea typeface="Roboto" charset="0"/>
                <a:sym typeface="Roboto" charset="0"/>
              </a:rPr>
              <a:t>20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68864" y="4901911"/>
            <a:ext cx="38697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REAL WORLD </a:t>
            </a:r>
            <a:r>
              <a:rPr lang="en-US" altLang="en-US" sz="12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BLOCKS WITH AI</a:t>
            </a:r>
            <a:endParaRPr lang="en-US" altLang="en-US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Placeholder 1"/>
          <p:cNvSpPr txBox="1">
            <a:spLocks noGrp="1"/>
          </p:cNvSpPr>
          <p:nvPr>
            <p:ph type="body" sz="quarter" idx="11"/>
          </p:nvPr>
        </p:nvSpPr>
        <p:spPr>
          <a:xfrm>
            <a:off x="-58738" y="11113"/>
            <a:ext cx="527051" cy="7397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chemeClr val="accent1"/>
              </a:buClr>
              <a:buSzPts val="3000"/>
              <a:buFont typeface="Roboto" charset="0"/>
              <a:buNone/>
            </a:pPr>
            <a:endParaRPr lang="en-US" altLang="en-US" dirty="0" smtClean="0">
              <a:ea typeface="Roboto" charset="0"/>
              <a:sym typeface="Roboto" charset="0"/>
            </a:endParaRPr>
          </a:p>
        </p:txBody>
      </p:sp>
      <p:sp>
        <p:nvSpPr>
          <p:cNvPr id="30723" name="Google Shape;330;p35"/>
          <p:cNvSpPr txBox="1">
            <a:spLocks noGrp="1"/>
          </p:cNvSpPr>
          <p:nvPr>
            <p:ph type="ctrTitle" idx="4294967295"/>
          </p:nvPr>
        </p:nvSpPr>
        <p:spPr>
          <a:xfrm>
            <a:off x="1235075" y="1992313"/>
            <a:ext cx="6673850" cy="1158875"/>
          </a:xfrm>
        </p:spPr>
        <p:txBody>
          <a:bodyPr/>
          <a:lstStyle/>
          <a:p>
            <a:pPr algn="ctr" eaLnBrk="1" hangingPunct="1">
              <a:buClr>
                <a:srgbClr val="FFFFFF"/>
              </a:buClr>
              <a:buSzPts val="2400"/>
              <a:buFont typeface="Dosis" panose="02010703020202060003" pitchFamily="2" charset="0"/>
              <a:buNone/>
            </a:pPr>
            <a:r>
              <a:rPr lang="en-US" altLang="en-US" sz="6000" smtClean="0">
                <a:solidFill>
                  <a:schemeClr val="accent1"/>
                </a:solidFill>
                <a:latin typeface="Dosis" panose="02010703020202060003" pitchFamily="2" charset="0"/>
                <a:cs typeface="Arial" panose="020B0604020202020204" pitchFamily="34" charset="0"/>
                <a:sym typeface="Dosis" panose="02010703020202060003" pitchFamily="2" charset="0"/>
              </a:rPr>
              <a:t>THANK YOU!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lliam template">
  <a:themeElements>
    <a:clrScheme name="Custom 347">
      <a:dk1>
        <a:srgbClr val="222222"/>
      </a:dk1>
      <a:lt1>
        <a:srgbClr val="FFFFFF"/>
      </a:lt1>
      <a:dk2>
        <a:srgbClr val="666666"/>
      </a:dk2>
      <a:lt2>
        <a:srgbClr val="F3F3F3"/>
      </a:lt2>
      <a:accent1>
        <a:srgbClr val="FF8700"/>
      </a:accent1>
      <a:accent2>
        <a:srgbClr val="FFB840"/>
      </a:accent2>
      <a:accent3>
        <a:srgbClr val="333333"/>
      </a:accent3>
      <a:accent4>
        <a:srgbClr val="9B9796"/>
      </a:accent4>
      <a:accent5>
        <a:srgbClr val="C9C3BD"/>
      </a:accent5>
      <a:accent6>
        <a:srgbClr val="96C94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722</TotalTime>
  <Words>709</Words>
  <Application>Microsoft Office PowerPoint</Application>
  <PresentationFormat>On-screen Show (16:9)</PresentationFormat>
  <Paragraphs>149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Segoe UI Semilight</vt:lpstr>
      <vt:lpstr>Arial</vt:lpstr>
      <vt:lpstr>Calibri</vt:lpstr>
      <vt:lpstr>Roboto</vt:lpstr>
      <vt:lpstr>Dosis</vt:lpstr>
      <vt:lpstr>Times New Roman</vt:lpstr>
      <vt:lpstr>William template</vt:lpstr>
      <vt:lpstr>IoT  Real World Programmable  Blocks with AI</vt:lpstr>
      <vt:lpstr>Presentation Outlines</vt:lpstr>
      <vt:lpstr>Introduction</vt:lpstr>
      <vt:lpstr>Existing System</vt:lpstr>
      <vt:lpstr>Drawbacks of Existing System</vt:lpstr>
      <vt:lpstr>Proposed System 1/3</vt:lpstr>
      <vt:lpstr>Proposed System 2/3</vt:lpstr>
      <vt:lpstr>Proposed System 3/3</vt:lpstr>
      <vt:lpstr>Why it is preferable? 1/2</vt:lpstr>
      <vt:lpstr>Why it is preferable? 2/2</vt:lpstr>
      <vt:lpstr>Traditional vs  Programmable IoT Blocks: </vt:lpstr>
      <vt:lpstr>Some Applications of Programmable IoT Blocks: </vt:lpstr>
      <vt:lpstr>Real-World application: Smart property automation</vt:lpstr>
      <vt:lpstr>H/W &amp; S/W Requirements</vt:lpstr>
      <vt:lpstr>Anatomy of a programmable block</vt:lpstr>
      <vt:lpstr>The brain of the block: ESP8266-12E</vt:lpstr>
      <vt:lpstr>Methodology</vt:lpstr>
      <vt:lpstr>The data pipeline: From chat to physical action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Real World Programmable Blocks</dc:title>
  <dc:creator>Sabid</dc:creator>
  <cp:lastModifiedBy>Sabid</cp:lastModifiedBy>
  <cp:revision>71</cp:revision>
  <dcterms:modified xsi:type="dcterms:W3CDTF">2026-07-31T15:04:28Z</dcterms:modified>
</cp:coreProperties>
</file>